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069a990-6601-58c8-02e1-b3cb2f9fffef}">
          <p14:sldIdLst>
            <p14:sldId id="256"/>
          </p14:sldIdLst>
        </p14:section>
        <p14:section name="Problem and goal" id="{94988862-8f6e-8e91-9a61-4f7d6da89785}">
          <p14:sldIdLst>
            <p14:sldId id="257"/>
            <p14:sldId id="258"/>
          </p14:sldIdLst>
        </p14:section>
        <p14:section name="Data" id="{1d0ded29-6df7-6709-9e56-9c5c45811cea}">
          <p14:sldIdLst>
            <p14:sldId id="259"/>
          </p14:sldIdLst>
        </p14:section>
        <p14:section name="Findings" id="{f7a2f580-aa4b-f924-8b80-8432ff73cee8}">
          <p14:sldIdLst>
            <p14:sldId id="260"/>
            <p14:sldId id="261"/>
          </p14:sldIdLst>
        </p14:section>
        <p14:section name="Next steps" id="{4e9aa8c5-e808-b160-022d-81c3e134b605}">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Brian. With Danni and Tianyi I'm studying how fast people hike, and whether lidar and other remote sensing can predict it better than the trail map. In five minutes: the problem, the data, two results, and what's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Software that estimates hiking time, like GIS travel-time tools, mostly still uses Tobler's formula from 1993. Speed depends only on slope: fastest, about 6 km/h, on a gentle downhill. Two problems: it was fit to a textbook table, not to real hikes, and slope is its only input. Could the trail map fill the gap? OpenStreetMap has a difficulty tag, but it covers 96% of walked trail in the Adirondacks and only 1.5% in the Green Mountains. (If asked: the tag is sac_scale, the Swiss Alpine Club's grade; flat ground is 5 km/h in Tobler, a 20% climb 2.5 km/h.)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Earlier work either refits the slope curve with data from fitness apps, or adds map and lidar inputs, but it always tests in the same area it trained on. The real use is a place with no data, so that's our test: train on 16 regions, predict the 17th, and repeat for every region. We compare four models that learn the same way but see different inputs: slope only, the map's tags, remote sensing, or both. (If asked: STRIDE is a lidar walking-speed model from timed field walks; RasterNet is our lab's road-speed model from lidar and overhead imagery.)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are public GPS tracks that hikers upload to OpenStreetMap, from 17 mountain regions in the US and Canada; bigger circles mean more hours of hiking. I clean each track, remove stops, snap it to the trail map, and cut it into 50-meter pieces, each with a measured speed. That's about 2,000 hikes and 290,000 pieces. (If asked: 14,500 km and 4,700 hours of walking; snapping uses a hidden Markov model, and 85 to 99% of points match, by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result. The dots are real hikers' typical speed at each slope, downhill on the left, uphill on the right; the dashed line is Tobler. Real hikers top out around 4.2 km/h, not 6, so on everyday trail Tobler is about 20% too fast. And it predicts worse than a simple curve fitted to real hikes in all 17 regions. (If asked: going down is 8 to 23% faster than going up for the same hiker on the same trail, while Tobler assumes 42%; overall Tobler scores 12.5%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result. Each row is one region the model never saw: it learned from the other 16 and was tested on this one. The black line at zero is slope alone, the curve from the last slide; dots to the right are better predictions. Blue adds terrain from lidar elevation maps, mostly the hidden ups and downs inside each 50-meter stretch that the average slope misses. Orange adds what the map says about the trail, like its difficulty grade and surface. Blue beats orange in 16 of 17 regions and is right of zero in every one. Orange is left of zero in five: there, tags learned elsewhere actually misled the model. Overall, terrain is 2 to 3% better than slope alone; tags, under 1%. (If asked why so small: speed is noisy; after slope, a quarter of what's left differs between hikes and the rest from stretch to stretch, and nothing we tried does much better; against Tobler, terrain is about 13% better. The score is CRPS, which grades the whole predicted range of speeds, and RMSE agrees. Terrain's lead over tags is +0.7 to +2.2 points, 95% interval. It holds with every hiker from the test region removed from training. Yosemite, the one exception, isn't investigated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the dataset, the four-model comparison, and a rough first draft of the paper. Next, in weeks 10 and 11: keep Tobler's formula, but let a small neural network learn its numbers from the terrain, so smooth and steppy trail get their own numbers. It also says how sure it is. On November 6 we check whether it beats the boosted trees. Week 12, if there's time: add aerial photos through a pretrained image model. Then the paper goes to IGARSS; the deadline is January 11. One question for you: which pretrained encoder would you use for 1-meter aerial imagery along trails? Thank you. (If asked: Why Tobler's form and not just the trees? It gives numbers the field can use, like how Tobler's steepness constant changes from smooth to steppy trail. Why would photos help when the satellite embeddings didn't? They might not: the 10 m embeddings mostly told the model which place it was in, while 1 m photos see the trail itself; the new-region test decides. NAIP covers only the US, so North Shore drops out of that test. The draft was written with Claude's help from our results, and I'm rewriting it in my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83080"/>
            <a:ext cx="8961120" cy="1600200"/>
          </a:xfrm>
          <a:prstGeom prst="rect">
            <a:avLst/>
          </a:prstGeom>
          <a:noFill/>
          <a:ln/>
        </p:spPr>
        <p:txBody>
          <a:bodyPr wrap="square" rtlCol="0"/>
          <a:lstStyle>
            <a:lvl1pPr algn="l" indent="0" marL="0">
              <a:buNone/>
              <a:defRPr lang="en-US" sz="4400" b="1" dirty="0">
                <a:solidFill>
                  <a:schemeClr val="bg1"/>
                </a:solidFill>
                <a:latin typeface="+mj-lt" pitchFamily="34" charset="0"/>
                <a:ea typeface="+mj-lt" pitchFamily="34" charset="-122"/>
                <a:cs typeface="+mj-lt"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8961120" cy="594360"/>
          </a:xfrm>
          <a:prstGeom prst="rect">
            <a:avLst/>
          </a:prstGeom>
          <a:noFill/>
          <a:ln/>
        </p:spPr>
        <p:txBody>
          <a:bodyPr wrap="square" rtlCol="0"/>
          <a:lstStyle>
            <a:lvl1pPr indent="0" marL="0">
              <a:buNone/>
              <a:defRPr lang="en-US" sz="2200" dirty="0">
                <a:solidFill>
                  <a:schemeClr val="accent5"/>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3400" b="1" dirty="0">
                <a:solidFill>
                  <a:schemeClr val="tx2"/>
                </a:solidFill>
                <a:latin typeface="+mj-lt" pitchFamily="34" charset="0"/>
                <a:ea typeface="+mj-lt" pitchFamily="34" charset="-122"/>
                <a:cs typeface="+mj-lt" pitchFamily="34" charset="-120"/>
              </a:defRPr>
            </a:lvl1pPr>
          </a:lstStyle>
          <a:p>
            <a:pPr algn="l" indent="0" marL="0">
              <a:buNone/>
            </a:pPr>
            <a:endParaRPr lang="en-US" sz="34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Brian Zhou  ·  MVRL lab meeting  ·  23 Oct 2026</a:t>
            </a:r>
            <a:endParaRPr lang="en-US" sz="10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3400" b="1" dirty="0">
                <a:solidFill>
                  <a:schemeClr val="bg1"/>
                </a:solidFill>
                <a:latin typeface="+mj-lt" pitchFamily="34" charset="0"/>
                <a:ea typeface="+mj-lt" pitchFamily="34" charset="-122"/>
                <a:cs typeface="+mj-lt" pitchFamily="34" charset="-120"/>
              </a:defRPr>
            </a:lvl1pPr>
          </a:lstStyle>
          <a:p>
            <a:pPr algn="l" indent="0" marL="0">
              <a:buNone/>
            </a:pPr>
            <a:endParaRPr lang="en-US" sz="34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Brian Zhou  ·  MVRL lab meeting  ·  23 Oct 2026</a:t>
            </a:r>
            <a:endParaRPr lang="en-US" sz="10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ntours, Mt Washington" descr="/Users/brian/Desktop/GeoAI/meeting_plots/oct23_lab/assets/contours.png">    </p:cNvPr>
          <p:cNvPicPr>
            <a:picLocks noChangeAspect="1"/>
          </p:cNvPicPr>
          <p:nvPr/>
        </p:nvPicPr>
        <p:blipFill>
          <a:blip r:embed="rId1">
            <a:alphaModFix amt="45000"/>
          </a:blip>
          <a:stretch>
            <a:fillRect/>
          </a:stretch>
        </p:blipFill>
        <p:spPr>
          <a:xfrm>
            <a:off x="0" y="0"/>
            <a:ext cx="12191695" cy="6858000"/>
          </a:xfrm>
          <a:prstGeom prst="rect">
            <a:avLst/>
          </a:prstGeom>
        </p:spPr>
      </p:pic>
      <p:sp>
        <p:nvSpPr>
          <p:cNvPr id="3" name="Kicker"/>
          <p:cNvSpPr txBox="1"/>
          <p:nvPr/>
        </p:nvSpPr>
        <p:spPr>
          <a:xfrm>
            <a:off x="731520" y="1325880"/>
            <a:ext cx="8961120" cy="320040"/>
          </a:xfrm>
          <a:prstGeom prst="rect">
            <a:avLst/>
          </a:prstGeom>
          <a:noFill/>
          <a:ln/>
        </p:spPr>
        <p:txBody>
          <a:bodyPr wrap="square" lIns="0" tIns="0" rIns="0" bIns="0" rtlCol="0" anchor="t"/>
          <a:lstStyle/>
          <a:p>
            <a:pPr indent="0" marL="0">
              <a:buNone/>
            </a:pPr>
            <a:r>
              <a:rPr lang="en-US" sz="1400" b="1" spc="200" kern="0" dirty="0">
                <a:solidFill>
                  <a:schemeClr val="accent5"/>
                </a:solidFill>
              </a:rPr>
              <a:t>MVRL LAB MEETING  ·  23 OCT 2026</a:t>
            </a:r>
            <a:endParaRPr lang="en-US" sz="1400" dirty="0"/>
          </a:p>
        </p:txBody>
      </p:sp>
      <p:sp>
        <p:nvSpPr>
          <p:cNvPr id="4" name="Text 0"/>
          <p:cNvSpPr/>
          <p:nvPr>
            <p:ph idx="100" type="title" hasCustomPrompt="1"/>
          </p:nvPr>
        </p:nvSpPr>
        <p:spPr>
          <a:xfrm>
            <a:off x="731520" y="1783080"/>
            <a:ext cx="8961120" cy="1600200"/>
          </a:xfrm>
          <a:prstGeom prst="rect">
            <a:avLst/>
          </a:prstGeom>
          <a:noFill/>
          <a:ln/>
        </p:spPr>
        <p:txBody>
          <a:bodyPr wrap="square" lIns="0" tIns="0" rIns="0" bIns="0" rtlCol="0" anchor="b"/>
          <a:lstStyle/>
          <a:p>
            <a:pPr algn="l" indent="0" marL="0">
              <a:buNone/>
            </a:pPr>
            <a:r>
              <a:rPr lang="en-US" sz="4400" b="1" dirty="0">
                <a:solidFill>
                  <a:schemeClr val="bg1"/>
                </a:solidFill>
                <a:latin typeface="+mj-lt" pitchFamily="34" charset="0"/>
                <a:ea typeface="+mj-lt" pitchFamily="34" charset="-122"/>
                <a:cs typeface="+mj-lt" pitchFamily="34" charset="-120"/>
              </a:rPr>
              <a:t>Does Remote Sensing Beat the Trail Map?</a:t>
            </a:r>
            <a:endParaRPr lang="en-US" sz="4400" dirty="0"/>
          </a:p>
        </p:txBody>
      </p:sp>
      <p:sp>
        <p:nvSpPr>
          <p:cNvPr id="5" name="Text 0"/>
          <p:cNvSpPr/>
          <p:nvPr>
            <p:ph idx="101" type="body" hasCustomPrompt="1"/>
          </p:nvPr>
        </p:nvSpPr>
        <p:spPr>
          <a:xfrm>
            <a:off x="731520" y="3520440"/>
            <a:ext cx="8961120" cy="594360"/>
          </a:xfrm>
          <a:prstGeom prst="rect">
            <a:avLst/>
          </a:prstGeom>
          <a:noFill/>
          <a:ln/>
        </p:spPr>
        <p:txBody>
          <a:bodyPr wrap="square" lIns="0" tIns="0" rIns="0" bIns="0" rtlCol="0" anchor="t"/>
          <a:lstStyle/>
          <a:p>
            <a:pPr indent="0" marL="0">
              <a:buNone/>
            </a:pPr>
            <a:r>
              <a:rPr lang="en-US" sz="2200" dirty="0">
                <a:solidFill>
                  <a:schemeClr val="accent5"/>
                </a:solidFill>
              </a:rPr>
              <a:t>Predicting hiking speed in regions a model has never seen</a:t>
            </a:r>
            <a:endParaRPr lang="en-US" sz="2200" dirty="0"/>
          </a:p>
        </p:txBody>
      </p:sp>
      <p:sp>
        <p:nvSpPr>
          <p:cNvPr id="6" name="Author"/>
          <p:cNvSpPr txBox="1"/>
          <p:nvPr/>
        </p:nvSpPr>
        <p:spPr>
          <a:xfrm>
            <a:off x="731520" y="4434840"/>
            <a:ext cx="10515600" cy="731520"/>
          </a:xfrm>
          <a:prstGeom prst="rect">
            <a:avLst/>
          </a:prstGeom>
          <a:noFill/>
          <a:ln/>
        </p:spPr>
        <p:txBody>
          <a:bodyPr wrap="square" lIns="0" tIns="0" rIns="0" bIns="0" rtlCol="0" anchor="t"/>
          <a:lstStyle/>
          <a:p>
            <a:pPr indent="0" marL="0">
              <a:buNone/>
            </a:pPr>
            <a:r>
              <a:rPr lang="en-US" sz="1800" b="1" dirty="0">
                <a:solidFill>
                  <a:schemeClr val="bg1"/>
                </a:solidFill>
              </a:rPr>
              <a:t>Brian Zhou</a:t>
            </a:r>
            <a:endParaRPr lang="en-US" sz="1800" dirty="0"/>
          </a:p>
          <a:p>
            <a:pPr indent="0" marL="0">
              <a:buNone/>
            </a:pPr>
            <a:r>
              <a:rPr lang="en-US" sz="1400" dirty="0">
                <a:solidFill>
                  <a:schemeClr val="accent5"/>
                </a:solidFill>
              </a:rPr>
              <a:t>CSE 5999 independent study  ·  Mentors Danni Beaulieu and Tianyi Gao  ·  Advisor Prof. Nathan Jacobs</a:t>
            </a:r>
            <a:endParaRPr lang="en-US" sz="1800" dirty="0"/>
          </a:p>
        </p:txBody>
      </p:sp>
      <p:sp>
        <p:nvSpPr>
          <p:cNvPr id="7" name="Credits"/>
          <p:cNvSpPr txBox="1"/>
          <p:nvPr/>
        </p:nvSpPr>
        <p:spPr>
          <a:xfrm>
            <a:off x="731520" y="6172200"/>
            <a:ext cx="10698480" cy="320040"/>
          </a:xfrm>
          <a:prstGeom prst="rect">
            <a:avLst/>
          </a:prstGeom>
          <a:noFill/>
          <a:ln/>
        </p:spPr>
        <p:txBody>
          <a:bodyPr wrap="square" lIns="0" tIns="0" rIns="0" bIns="0" rtlCol="0" anchor="t"/>
          <a:lstStyle/>
          <a:p>
            <a:pPr indent="0" marL="0">
              <a:buNone/>
            </a:pPr>
            <a:r>
              <a:rPr lang="en-US" sz="1000" dirty="0">
                <a:solidFill>
                  <a:schemeClr val="accent5"/>
                </a:solidFill>
              </a:rPr>
              <a:t>Background: lidar contours of Mt Washington, NH (USGS 3DEP).  Slides made with help from Claude (Anthropic).</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mj-lt" pitchFamily="34" charset="0"/>
                <a:ea typeface="+mj-lt" pitchFamily="34" charset="-122"/>
                <a:cs typeface="+mj-lt" pitchFamily="34" charset="-120"/>
              </a:rPr>
              <a:t>GIS still times hikes with a 1993 formula</a:t>
            </a:r>
            <a:endParaRPr lang="en-US" sz="3400" dirty="0"/>
          </a:p>
        </p:txBody>
      </p:sp>
      <p:sp>
        <p:nvSpPr>
          <p:cNvPr id="3" name="Formula card"/>
          <p:cNvSpPr/>
          <p:nvPr/>
        </p:nvSpPr>
        <p:spPr>
          <a:xfrm>
            <a:off x="548640" y="1371600"/>
            <a:ext cx="5669280" cy="1965960"/>
          </a:xfrm>
          <a:prstGeom prst="roundRect">
            <a:avLst>
              <a:gd name="adj" fmla="val 4651"/>
            </a:avLst>
          </a:prstGeom>
          <a:solidFill>
            <a:schemeClr val="bg2"/>
          </a:solidFill>
          <a:ln/>
        </p:spPr>
      </p:sp>
      <p:sp>
        <p:nvSpPr>
          <p:cNvPr id="4" name="Formula label"/>
          <p:cNvSpPr txBox="1"/>
          <p:nvPr/>
        </p:nvSpPr>
        <p:spPr>
          <a:xfrm>
            <a:off x="822960" y="1554480"/>
            <a:ext cx="5120640" cy="274320"/>
          </a:xfrm>
          <a:prstGeom prst="rect">
            <a:avLst/>
          </a:prstGeom>
          <a:noFill/>
          <a:ln/>
        </p:spPr>
        <p:txBody>
          <a:bodyPr wrap="square" lIns="0" tIns="0" rIns="0" bIns="0" rtlCol="0" anchor="t"/>
          <a:lstStyle/>
          <a:p>
            <a:pPr indent="0" marL="0">
              <a:buNone/>
            </a:pPr>
            <a:r>
              <a:rPr lang="en-US" sz="1200" b="1" spc="150" kern="0" dirty="0">
                <a:solidFill>
                  <a:schemeClr val="accent3"/>
                </a:solidFill>
              </a:rPr>
              <a:t>TOBLER'S HIKING FUNCTION (1993)</a:t>
            </a:r>
            <a:endParaRPr lang="en-US" sz="1200" dirty="0"/>
          </a:p>
        </p:txBody>
      </p:sp>
      <p:sp>
        <p:nvSpPr>
          <p:cNvPr id="5" name="Formula"/>
          <p:cNvSpPr txBox="1"/>
          <p:nvPr/>
        </p:nvSpPr>
        <p:spPr>
          <a:xfrm>
            <a:off x="822960" y="1874520"/>
            <a:ext cx="5120640" cy="777240"/>
          </a:xfrm>
          <a:prstGeom prst="rect">
            <a:avLst/>
          </a:prstGeom>
          <a:noFill/>
          <a:ln/>
        </p:spPr>
        <p:txBody>
          <a:bodyPr wrap="square" lIns="0" tIns="0" rIns="0" bIns="0" rtlCol="0" anchor="ctr"/>
          <a:lstStyle/>
          <a:p>
            <a:pPr indent="0" marL="0">
              <a:buNone/>
            </a:pPr>
            <a:r>
              <a:rPr lang="en-US" sz="3200" dirty="0">
                <a:solidFill>
                  <a:schemeClr val="tx1"/>
                </a:solidFill>
                <a:latin typeface="+mj-lt" pitchFamily="34" charset="0"/>
                <a:ea typeface="+mj-lt" pitchFamily="34" charset="-122"/>
                <a:cs typeface="+mj-lt" pitchFamily="34" charset="-120"/>
              </a:rPr>
              <a:t>v = 6 e</a:t>
            </a:r>
            <a:pPr indent="0" marL="0">
              <a:buNone/>
            </a:pPr>
            <a:r>
              <a:rPr lang="en-US" sz="3200" baseline="30000" dirty="0">
                <a:solidFill>
                  <a:schemeClr val="tx1"/>
                </a:solidFill>
                <a:latin typeface="+mj-lt" pitchFamily="34" charset="0"/>
                <a:ea typeface="+mj-lt" pitchFamily="34" charset="-122"/>
                <a:cs typeface="+mj-lt" pitchFamily="34" charset="-120"/>
              </a:rPr>
              <a:t>−3.5 |s + 0.05|</a:t>
            </a:r>
            <a:pPr indent="0" marL="0">
              <a:buNone/>
            </a:pPr>
            <a:r>
              <a:rPr lang="en-US" sz="1800" dirty="0">
                <a:solidFill>
                  <a:schemeClr val="accent4"/>
                </a:solidFill>
              </a:rPr>
              <a:t>   km/h</a:t>
            </a:r>
            <a:endParaRPr lang="en-US" sz="3200" dirty="0"/>
          </a:p>
        </p:txBody>
      </p:sp>
      <p:sp>
        <p:nvSpPr>
          <p:cNvPr id="6" name="Formula how to read"/>
          <p:cNvSpPr txBox="1"/>
          <p:nvPr/>
        </p:nvSpPr>
        <p:spPr>
          <a:xfrm>
            <a:off x="822960" y="2743200"/>
            <a:ext cx="5120640" cy="365760"/>
          </a:xfrm>
          <a:prstGeom prst="rect">
            <a:avLst/>
          </a:prstGeom>
          <a:noFill/>
          <a:ln/>
        </p:spPr>
        <p:txBody>
          <a:bodyPr wrap="square" lIns="0" tIns="0" rIns="0" bIns="0" rtlCol="0" anchor="t"/>
          <a:lstStyle/>
          <a:p>
            <a:pPr indent="0" marL="0">
              <a:buNone/>
            </a:pPr>
            <a:r>
              <a:rPr lang="en-US" sz="1600" dirty="0">
                <a:solidFill>
                  <a:schemeClr val="accent4"/>
                </a:solidFill>
              </a:rPr>
              <a:t>s = slope.  Fastest, 6 km/h, on a gentle downhill.</a:t>
            </a:r>
            <a:endParaRPr lang="en-US" sz="1600" dirty="0"/>
          </a:p>
        </p:txBody>
      </p:sp>
      <p:sp>
        <p:nvSpPr>
          <p:cNvPr id="7" name="Problem marker 1"/>
          <p:cNvSpPr/>
          <p:nvPr/>
        </p:nvSpPr>
        <p:spPr>
          <a:xfrm>
            <a:off x="566928" y="3858768"/>
            <a:ext cx="182880" cy="182880"/>
          </a:xfrm>
          <a:prstGeom prst="ellipse">
            <a:avLst/>
          </a:prstGeom>
          <a:solidFill>
            <a:schemeClr val="tx2"/>
          </a:solidFill>
          <a:ln/>
        </p:spPr>
      </p:sp>
      <p:sp>
        <p:nvSpPr>
          <p:cNvPr id="8" name="Problem 1"/>
          <p:cNvSpPr txBox="1"/>
          <p:nvPr/>
        </p:nvSpPr>
        <p:spPr>
          <a:xfrm>
            <a:off x="960120" y="3749040"/>
            <a:ext cx="5257800" cy="822960"/>
          </a:xfrm>
          <a:prstGeom prst="rect">
            <a:avLst/>
          </a:prstGeom>
          <a:noFill/>
          <a:ln/>
        </p:spPr>
        <p:txBody>
          <a:bodyPr wrap="square" lIns="0" tIns="0" rIns="0" bIns="0" rtlCol="0" anchor="t"/>
          <a:lstStyle/>
          <a:p>
            <a:pPr indent="0" marL="0">
              <a:buNone/>
            </a:pPr>
            <a:r>
              <a:rPr lang="en-US" sz="2000" b="1" dirty="0">
                <a:solidFill>
                  <a:schemeClr val="tx2"/>
                </a:solidFill>
              </a:rPr>
              <a:t>Fit to a textbook table</a:t>
            </a:r>
            <a:endParaRPr lang="en-US" sz="2000" dirty="0"/>
          </a:p>
          <a:p>
            <a:pPr indent="0" marL="0">
              <a:buNone/>
            </a:pPr>
            <a:r>
              <a:rPr lang="en-US" sz="1600" dirty="0">
                <a:solidFill>
                  <a:schemeClr val="accent4"/>
                </a:solidFill>
              </a:rPr>
              <a:t>not to real hikes</a:t>
            </a:r>
            <a:endParaRPr lang="en-US" sz="2000" dirty="0"/>
          </a:p>
        </p:txBody>
      </p:sp>
      <p:sp>
        <p:nvSpPr>
          <p:cNvPr id="9" name="Problem marker 2"/>
          <p:cNvSpPr/>
          <p:nvPr/>
        </p:nvSpPr>
        <p:spPr>
          <a:xfrm>
            <a:off x="566928" y="4956048"/>
            <a:ext cx="182880" cy="182880"/>
          </a:xfrm>
          <a:prstGeom prst="ellipse">
            <a:avLst/>
          </a:prstGeom>
          <a:solidFill>
            <a:schemeClr val="tx2"/>
          </a:solidFill>
          <a:ln/>
        </p:spPr>
      </p:sp>
      <p:sp>
        <p:nvSpPr>
          <p:cNvPr id="10" name="Problem 2"/>
          <p:cNvSpPr txBox="1"/>
          <p:nvPr/>
        </p:nvSpPr>
        <p:spPr>
          <a:xfrm>
            <a:off x="960120" y="4846320"/>
            <a:ext cx="5257800" cy="822960"/>
          </a:xfrm>
          <a:prstGeom prst="rect">
            <a:avLst/>
          </a:prstGeom>
          <a:noFill/>
          <a:ln/>
        </p:spPr>
        <p:txBody>
          <a:bodyPr wrap="square" lIns="0" tIns="0" rIns="0" bIns="0" rtlCol="0" anchor="t"/>
          <a:lstStyle/>
          <a:p>
            <a:pPr indent="0" marL="0">
              <a:buNone/>
            </a:pPr>
            <a:r>
              <a:rPr lang="en-US" sz="2000" b="1" dirty="0">
                <a:solidFill>
                  <a:schemeClr val="tx2"/>
                </a:solidFill>
              </a:rPr>
              <a:t>Slope is its only input</a:t>
            </a:r>
            <a:endParaRPr lang="en-US" sz="2000" dirty="0"/>
          </a:p>
          <a:p>
            <a:pPr indent="0" marL="0">
              <a:buNone/>
            </a:pPr>
            <a:r>
              <a:rPr lang="en-US" sz="1600" dirty="0">
                <a:solidFill>
                  <a:schemeClr val="accent4"/>
                </a:solidFill>
              </a:rPr>
              <a:t>rocks, roots and brush are ignored</a:t>
            </a:r>
            <a:endParaRPr lang="en-US" sz="2000" dirty="0"/>
          </a:p>
        </p:txBody>
      </p:sp>
      <p:sp>
        <p:nvSpPr>
          <p:cNvPr id="11" name="Tag card"/>
          <p:cNvSpPr/>
          <p:nvPr/>
        </p:nvSpPr>
        <p:spPr>
          <a:xfrm>
            <a:off x="6675120" y="1371600"/>
            <a:ext cx="4967935" cy="4389120"/>
          </a:xfrm>
          <a:prstGeom prst="roundRect">
            <a:avLst>
              <a:gd name="adj" fmla="val 2083"/>
            </a:avLst>
          </a:prstGeom>
          <a:solidFill>
            <a:schemeClr val="bg2"/>
          </a:solidFill>
          <a:ln/>
        </p:spPr>
      </p:sp>
      <p:sp>
        <p:nvSpPr>
          <p:cNvPr id="12" name="Tag card label"/>
          <p:cNvSpPr txBox="1"/>
          <p:nvPr/>
        </p:nvSpPr>
        <p:spPr>
          <a:xfrm>
            <a:off x="6995160" y="1554480"/>
            <a:ext cx="4327855" cy="274320"/>
          </a:xfrm>
          <a:prstGeom prst="rect">
            <a:avLst/>
          </a:prstGeom>
          <a:noFill/>
          <a:ln/>
        </p:spPr>
        <p:txBody>
          <a:bodyPr wrap="square" lIns="0" tIns="0" rIns="0" bIns="0" rtlCol="0" anchor="t"/>
          <a:lstStyle/>
          <a:p>
            <a:pPr indent="0" marL="0">
              <a:buNone/>
            </a:pPr>
            <a:r>
              <a:rPr lang="en-US" sz="1200" b="1" spc="150" kern="0" dirty="0">
                <a:solidFill>
                  <a:schemeClr val="accent3"/>
                </a:solidFill>
              </a:rPr>
              <a:t>CAN THE TRAIL MAP HELP?</a:t>
            </a:r>
            <a:endParaRPr lang="en-US" sz="1200" dirty="0"/>
          </a:p>
        </p:txBody>
      </p:sp>
      <p:sp>
        <p:nvSpPr>
          <p:cNvPr id="13" name="Tag card lead"/>
          <p:cNvSpPr txBox="1"/>
          <p:nvPr/>
        </p:nvSpPr>
        <p:spPr>
          <a:xfrm>
            <a:off x="6995160" y="1874520"/>
            <a:ext cx="4327855" cy="548640"/>
          </a:xfrm>
          <a:prstGeom prst="rect">
            <a:avLst/>
          </a:prstGeom>
          <a:noFill/>
          <a:ln/>
        </p:spPr>
        <p:txBody>
          <a:bodyPr wrap="square" lIns="0" tIns="0" rIns="0" bIns="0" rtlCol="0" anchor="t"/>
          <a:lstStyle/>
          <a:p>
            <a:pPr indent="0" marL="0">
              <a:buNone/>
            </a:pPr>
            <a:r>
              <a:rPr lang="en-US" sz="1600" dirty="0">
                <a:solidFill>
                  <a:schemeClr val="tx1"/>
                </a:solidFill>
              </a:rPr>
              <a:t>Share of walked trail with OpenStreetMap's difficulty tag:</a:t>
            </a:r>
            <a:endParaRPr lang="en-US" sz="1600" dirty="0"/>
          </a:p>
        </p:txBody>
      </p:sp>
      <p:sp>
        <p:nvSpPr>
          <p:cNvPr id="14" name="Most tagged value"/>
          <p:cNvSpPr txBox="1"/>
          <p:nvPr/>
        </p:nvSpPr>
        <p:spPr>
          <a:xfrm>
            <a:off x="6995160" y="2468880"/>
            <a:ext cx="4327855" cy="868680"/>
          </a:xfrm>
          <a:prstGeom prst="rect">
            <a:avLst/>
          </a:prstGeom>
          <a:noFill/>
          <a:ln/>
        </p:spPr>
        <p:txBody>
          <a:bodyPr wrap="square" lIns="0" tIns="0" rIns="0" bIns="0" rtlCol="0" anchor="t"/>
          <a:lstStyle/>
          <a:p>
            <a:pPr indent="0" marL="0">
              <a:buNone/>
            </a:pPr>
            <a:r>
              <a:rPr lang="en-US" sz="5400" b="1" dirty="0">
                <a:solidFill>
                  <a:schemeClr val="accent2"/>
                </a:solidFill>
                <a:latin typeface="+mj-lt" pitchFamily="34" charset="0"/>
                <a:ea typeface="+mj-lt" pitchFamily="34" charset="-122"/>
                <a:cs typeface="+mj-lt" pitchFamily="34" charset="-120"/>
              </a:rPr>
              <a:t>96%</a:t>
            </a:r>
            <a:endParaRPr lang="en-US" sz="5400" dirty="0"/>
          </a:p>
        </p:txBody>
      </p:sp>
      <p:sp>
        <p:nvSpPr>
          <p:cNvPr id="15" name="Most tagged label"/>
          <p:cNvSpPr txBox="1"/>
          <p:nvPr/>
        </p:nvSpPr>
        <p:spPr>
          <a:xfrm>
            <a:off x="6995160" y="3337560"/>
            <a:ext cx="4327855" cy="685800"/>
          </a:xfrm>
          <a:prstGeom prst="rect">
            <a:avLst/>
          </a:prstGeom>
          <a:noFill/>
          <a:ln/>
        </p:spPr>
        <p:txBody>
          <a:bodyPr wrap="square" lIns="0" tIns="0" rIns="0" bIns="0" rtlCol="0" anchor="t"/>
          <a:lstStyle/>
          <a:p>
            <a:pPr indent="0" marL="0">
              <a:buNone/>
            </a:pPr>
            <a:r>
              <a:rPr lang="en-US" sz="1500" dirty="0">
                <a:solidFill>
                  <a:schemeClr val="tx1"/>
                </a:solidFill>
              </a:rPr>
              <a:t>Adirondacks</a:t>
            </a:r>
            <a:endParaRPr lang="en-US" sz="1500" dirty="0"/>
          </a:p>
        </p:txBody>
      </p:sp>
      <p:sp>
        <p:nvSpPr>
          <p:cNvPr id="16" name="Least tagged value"/>
          <p:cNvSpPr txBox="1"/>
          <p:nvPr/>
        </p:nvSpPr>
        <p:spPr>
          <a:xfrm>
            <a:off x="6995160" y="3703320"/>
            <a:ext cx="4327855" cy="868680"/>
          </a:xfrm>
          <a:prstGeom prst="rect">
            <a:avLst/>
          </a:prstGeom>
          <a:noFill/>
          <a:ln/>
        </p:spPr>
        <p:txBody>
          <a:bodyPr wrap="square" lIns="0" tIns="0" rIns="0" bIns="0" rtlCol="0" anchor="t"/>
          <a:lstStyle/>
          <a:p>
            <a:pPr indent="0" marL="0">
              <a:buNone/>
            </a:pPr>
            <a:r>
              <a:rPr lang="en-US" sz="5400" b="1" dirty="0">
                <a:solidFill>
                  <a:schemeClr val="accent2"/>
                </a:solidFill>
                <a:latin typeface="+mj-lt" pitchFamily="34" charset="0"/>
                <a:ea typeface="+mj-lt" pitchFamily="34" charset="-122"/>
                <a:cs typeface="+mj-lt" pitchFamily="34" charset="-120"/>
              </a:rPr>
              <a:t>1.5%</a:t>
            </a:r>
            <a:endParaRPr lang="en-US" sz="5400" dirty="0"/>
          </a:p>
        </p:txBody>
      </p:sp>
      <p:sp>
        <p:nvSpPr>
          <p:cNvPr id="17" name="Least tagged label"/>
          <p:cNvSpPr txBox="1"/>
          <p:nvPr/>
        </p:nvSpPr>
        <p:spPr>
          <a:xfrm>
            <a:off x="6995160" y="4572000"/>
            <a:ext cx="4327855" cy="685800"/>
          </a:xfrm>
          <a:prstGeom prst="rect">
            <a:avLst/>
          </a:prstGeom>
          <a:noFill/>
          <a:ln/>
        </p:spPr>
        <p:txBody>
          <a:bodyPr wrap="square" lIns="0" tIns="0" rIns="0" bIns="0" rtlCol="0" anchor="t"/>
          <a:lstStyle/>
          <a:p>
            <a:pPr indent="0" marL="0">
              <a:buNone/>
            </a:pPr>
            <a:r>
              <a:rPr lang="en-US" sz="1500" dirty="0">
                <a:solidFill>
                  <a:schemeClr val="tx1"/>
                </a:solidFill>
              </a:rPr>
              <a:t>Green Mountains</a:t>
            </a:r>
            <a:endParaRPr lang="en-US" sz="1500" dirty="0"/>
          </a:p>
        </p:txBody>
      </p:sp>
      <p:sp>
        <p:nvSpPr>
          <p:cNvPr id="18" name="Tag card takeaway"/>
          <p:cNvSpPr txBox="1"/>
          <p:nvPr/>
        </p:nvSpPr>
        <p:spPr>
          <a:xfrm>
            <a:off x="6995160" y="5029200"/>
            <a:ext cx="4327855" cy="548640"/>
          </a:xfrm>
          <a:prstGeom prst="rect">
            <a:avLst/>
          </a:prstGeom>
          <a:noFill/>
          <a:ln/>
        </p:spPr>
        <p:txBody>
          <a:bodyPr wrap="square" lIns="0" tIns="0" rIns="0" bIns="0" rtlCol="0" anchor="t"/>
          <a:lstStyle/>
          <a:p>
            <a:pPr indent="0" marL="0">
              <a:buNone/>
            </a:pPr>
            <a:r>
              <a:rPr lang="en-US" sz="1600" b="1" dirty="0">
                <a:solidFill>
                  <a:schemeClr val="tx2"/>
                </a:solidFill>
              </a:rPr>
              <a:t>Often the map can't say how hard a trail is.</a:t>
            </a:r>
            <a:endParaRPr lang="en-US" sz="16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mj-lt" pitchFamily="34" charset="0"/>
                <a:ea typeface="+mj-lt" pitchFamily="34" charset="-122"/>
                <a:cs typeface="+mj-lt" pitchFamily="34" charset="-120"/>
              </a:rPr>
              <a:t>Goal: predict speed in regions the model never saw</a:t>
            </a:r>
            <a:endParaRPr lang="en-US" sz="3400" dirty="0"/>
          </a:p>
        </p:txBody>
      </p:sp>
      <p:sp>
        <p:nvSpPr>
          <p:cNvPr id="3" name="Prior label"/>
          <p:cNvSpPr txBox="1"/>
          <p:nvPr/>
        </p:nvSpPr>
        <p:spPr>
          <a:xfrm>
            <a:off x="548640" y="1463040"/>
            <a:ext cx="4754880" cy="274320"/>
          </a:xfrm>
          <a:prstGeom prst="rect">
            <a:avLst/>
          </a:prstGeom>
          <a:noFill/>
          <a:ln/>
        </p:spPr>
        <p:txBody>
          <a:bodyPr wrap="square" lIns="0" tIns="0" rIns="0" bIns="0" rtlCol="0" anchor="t"/>
          <a:lstStyle/>
          <a:p>
            <a:pPr indent="0" marL="0">
              <a:buNone/>
            </a:pPr>
            <a:r>
              <a:rPr lang="en-US" sz="1200" b="1" spc="150" kern="0" dirty="0">
                <a:solidFill>
                  <a:schemeClr val="accent3"/>
                </a:solidFill>
              </a:rPr>
              <a:t>WHAT'S BEEN DONE</a:t>
            </a:r>
            <a:endParaRPr lang="en-US" sz="1200" dirty="0"/>
          </a:p>
        </p:txBody>
      </p:sp>
      <p:sp>
        <p:nvSpPr>
          <p:cNvPr id="4" name="Prior card 1"/>
          <p:cNvSpPr/>
          <p:nvPr/>
        </p:nvSpPr>
        <p:spPr>
          <a:xfrm>
            <a:off x="548640" y="1874520"/>
            <a:ext cx="4754880" cy="1005840"/>
          </a:xfrm>
          <a:prstGeom prst="roundRect">
            <a:avLst>
              <a:gd name="adj" fmla="val 9091"/>
            </a:avLst>
          </a:prstGeom>
          <a:solidFill>
            <a:schemeClr val="bg2"/>
          </a:solidFill>
          <a:ln/>
        </p:spPr>
      </p:sp>
      <p:sp>
        <p:nvSpPr>
          <p:cNvPr id="5" name="Prior 1"/>
          <p:cNvSpPr txBox="1"/>
          <p:nvPr/>
        </p:nvSpPr>
        <p:spPr>
          <a:xfrm>
            <a:off x="777240" y="2039112"/>
            <a:ext cx="4343400" cy="685800"/>
          </a:xfrm>
          <a:prstGeom prst="rect">
            <a:avLst/>
          </a:prstGeom>
          <a:noFill/>
          <a:ln/>
        </p:spPr>
        <p:txBody>
          <a:bodyPr wrap="square" lIns="0" tIns="0" rIns="0" bIns="0" rtlCol="0" anchor="t"/>
          <a:lstStyle/>
          <a:p>
            <a:pPr indent="0" marL="0">
              <a:buNone/>
            </a:pPr>
            <a:r>
              <a:rPr lang="en-US" sz="1800" b="1" dirty="0">
                <a:solidFill>
                  <a:schemeClr val="tx2"/>
                </a:solidFill>
              </a:rPr>
              <a:t>Refit the slope curve</a:t>
            </a:r>
            <a:endParaRPr lang="en-US" sz="1800" dirty="0"/>
          </a:p>
          <a:p>
            <a:pPr indent="0" marL="0">
              <a:buNone/>
            </a:pPr>
            <a:r>
              <a:rPr lang="en-US" sz="1300" dirty="0">
                <a:solidFill>
                  <a:schemeClr val="accent4"/>
                </a:solidFill>
              </a:rPr>
              <a:t>with fitness-app data (Campbell et al. 2019, 2022)</a:t>
            </a:r>
            <a:endParaRPr lang="en-US" sz="1800" dirty="0"/>
          </a:p>
        </p:txBody>
      </p:sp>
      <p:sp>
        <p:nvSpPr>
          <p:cNvPr id="6" name="Prior card 2"/>
          <p:cNvSpPr/>
          <p:nvPr/>
        </p:nvSpPr>
        <p:spPr>
          <a:xfrm>
            <a:off x="548640" y="3108960"/>
            <a:ext cx="4754880" cy="1005840"/>
          </a:xfrm>
          <a:prstGeom prst="roundRect">
            <a:avLst>
              <a:gd name="adj" fmla="val 9091"/>
            </a:avLst>
          </a:prstGeom>
          <a:solidFill>
            <a:schemeClr val="bg2"/>
          </a:solidFill>
          <a:ln/>
        </p:spPr>
      </p:sp>
      <p:sp>
        <p:nvSpPr>
          <p:cNvPr id="7" name="Prior 2"/>
          <p:cNvSpPr txBox="1"/>
          <p:nvPr/>
        </p:nvSpPr>
        <p:spPr>
          <a:xfrm>
            <a:off x="777240" y="3273552"/>
            <a:ext cx="4343400" cy="685800"/>
          </a:xfrm>
          <a:prstGeom prst="rect">
            <a:avLst/>
          </a:prstGeom>
          <a:noFill/>
          <a:ln/>
        </p:spPr>
        <p:txBody>
          <a:bodyPr wrap="square" lIns="0" tIns="0" rIns="0" bIns="0" rtlCol="0" anchor="t"/>
          <a:lstStyle/>
          <a:p>
            <a:pPr indent="0" marL="0">
              <a:buNone/>
            </a:pPr>
            <a:r>
              <a:rPr lang="en-US" sz="1800" b="1" dirty="0">
                <a:solidFill>
                  <a:schemeClr val="tx2"/>
                </a:solidFill>
              </a:rPr>
              <a:t>Add map or lidar inputs</a:t>
            </a:r>
            <a:endParaRPr lang="en-US" sz="1800" dirty="0"/>
          </a:p>
          <a:p>
            <a:pPr indent="0" marL="0">
              <a:buNone/>
            </a:pPr>
            <a:r>
              <a:rPr lang="en-US" sz="1300" dirty="0">
                <a:solidFill>
                  <a:schemeClr val="accent4"/>
                </a:solidFill>
              </a:rPr>
              <a:t>Wood et al. 2023; STRIDE 2024; RasterNet (this lab, 2020)</a:t>
            </a:r>
            <a:endParaRPr lang="en-US" sz="1800" dirty="0"/>
          </a:p>
        </p:txBody>
      </p:sp>
      <p:sp>
        <p:nvSpPr>
          <p:cNvPr id="8" name="Gap"/>
          <p:cNvSpPr txBox="1"/>
          <p:nvPr/>
        </p:nvSpPr>
        <p:spPr>
          <a:xfrm>
            <a:off x="548640" y="4480560"/>
            <a:ext cx="4754880" cy="731520"/>
          </a:xfrm>
          <a:prstGeom prst="rect">
            <a:avLst/>
          </a:prstGeom>
          <a:noFill/>
          <a:ln/>
        </p:spPr>
        <p:txBody>
          <a:bodyPr wrap="square" lIns="0" tIns="0" rIns="0" bIns="0" rtlCol="0" anchor="t"/>
          <a:lstStyle/>
          <a:p>
            <a:pPr indent="0" marL="0">
              <a:buNone/>
            </a:pPr>
            <a:r>
              <a:rPr lang="en-US" sz="1800" b="1" dirty="0">
                <a:solidFill>
                  <a:schemeClr val="accent2"/>
                </a:solidFill>
              </a:rPr>
              <a:t>Gap: </a:t>
            </a:r>
            <a:pPr indent="0" marL="0">
              <a:buNone/>
            </a:pPr>
            <a:r>
              <a:rPr lang="en-US" sz="1800" dirty="0">
                <a:solidFill>
                  <a:schemeClr val="tx1"/>
                </a:solidFill>
              </a:rPr>
              <a:t>always tested in the same area they were trained on.</a:t>
            </a:r>
            <a:endParaRPr lang="en-US" sz="1800" dirty="0"/>
          </a:p>
        </p:txBody>
      </p:sp>
      <p:sp>
        <p:nvSpPr>
          <p:cNvPr id="9" name="Goal card"/>
          <p:cNvSpPr/>
          <p:nvPr/>
        </p:nvSpPr>
        <p:spPr>
          <a:xfrm>
            <a:off x="5760720" y="1417320"/>
            <a:ext cx="5882335" cy="4526280"/>
          </a:xfrm>
          <a:prstGeom prst="roundRect">
            <a:avLst>
              <a:gd name="adj" fmla="val 2020"/>
            </a:avLst>
          </a:prstGeom>
          <a:solidFill>
            <a:schemeClr val="tx2"/>
          </a:solidFill>
          <a:ln/>
        </p:spPr>
      </p:sp>
      <p:sp>
        <p:nvSpPr>
          <p:cNvPr id="10" name="Goal label"/>
          <p:cNvSpPr txBox="1"/>
          <p:nvPr/>
        </p:nvSpPr>
        <p:spPr>
          <a:xfrm>
            <a:off x="6080760" y="1645920"/>
            <a:ext cx="5242255"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OUR TEST</a:t>
            </a:r>
            <a:endParaRPr lang="en-US" sz="1200" dirty="0"/>
          </a:p>
        </p:txBody>
      </p:sp>
      <p:sp>
        <p:nvSpPr>
          <p:cNvPr id="11" name="Goal"/>
          <p:cNvSpPr txBox="1"/>
          <p:nvPr/>
        </p:nvSpPr>
        <p:spPr>
          <a:xfrm>
            <a:off x="6080760" y="1965960"/>
            <a:ext cx="5242255" cy="777240"/>
          </a:xfrm>
          <a:prstGeom prst="rect">
            <a:avLst/>
          </a:prstGeom>
          <a:noFill/>
          <a:ln/>
        </p:spPr>
        <p:txBody>
          <a:bodyPr wrap="square" lIns="0" tIns="0" rIns="0" bIns="0" rtlCol="0" anchor="t"/>
          <a:lstStyle/>
          <a:p>
            <a:pPr indent="0" marL="0">
              <a:buNone/>
            </a:pPr>
            <a:r>
              <a:rPr lang="en-US" sz="2200" dirty="0">
                <a:solidFill>
                  <a:schemeClr val="bg1"/>
                </a:solidFill>
                <a:latin typeface="+mj-lt" pitchFamily="34" charset="0"/>
                <a:ea typeface="+mj-lt" pitchFamily="34" charset="-122"/>
                <a:cs typeface="+mj-lt" pitchFamily="34" charset="-120"/>
              </a:rPr>
              <a:t>Train on 16 regions, predict the 17th. Repeat for each region.</a:t>
            </a:r>
            <a:endParaRPr lang="en-US" sz="2200" dirty="0"/>
          </a:p>
        </p:txBody>
      </p:sp>
      <p:sp>
        <p:nvSpPr>
          <p:cNvPr id="12" name="Training region 1"/>
          <p:cNvSpPr/>
          <p:nvPr/>
        </p:nvSpPr>
        <p:spPr>
          <a:xfrm>
            <a:off x="6080760" y="2926080"/>
            <a:ext cx="201168" cy="201168"/>
          </a:xfrm>
          <a:prstGeom prst="ellipse">
            <a:avLst/>
          </a:prstGeom>
          <a:solidFill>
            <a:schemeClr val="accent5"/>
          </a:solidFill>
          <a:ln/>
        </p:spPr>
      </p:sp>
      <p:sp>
        <p:nvSpPr>
          <p:cNvPr id="13" name="Training region 2"/>
          <p:cNvSpPr/>
          <p:nvPr/>
        </p:nvSpPr>
        <p:spPr>
          <a:xfrm>
            <a:off x="6345936" y="2926080"/>
            <a:ext cx="201168" cy="201168"/>
          </a:xfrm>
          <a:prstGeom prst="ellipse">
            <a:avLst/>
          </a:prstGeom>
          <a:solidFill>
            <a:schemeClr val="accent5"/>
          </a:solidFill>
          <a:ln/>
        </p:spPr>
      </p:sp>
      <p:sp>
        <p:nvSpPr>
          <p:cNvPr id="14" name="Training region 3"/>
          <p:cNvSpPr/>
          <p:nvPr/>
        </p:nvSpPr>
        <p:spPr>
          <a:xfrm>
            <a:off x="6611112" y="2926080"/>
            <a:ext cx="201168" cy="201168"/>
          </a:xfrm>
          <a:prstGeom prst="ellipse">
            <a:avLst/>
          </a:prstGeom>
          <a:solidFill>
            <a:schemeClr val="accent5"/>
          </a:solidFill>
          <a:ln/>
        </p:spPr>
      </p:sp>
      <p:sp>
        <p:nvSpPr>
          <p:cNvPr id="15" name="Training region 4"/>
          <p:cNvSpPr/>
          <p:nvPr/>
        </p:nvSpPr>
        <p:spPr>
          <a:xfrm>
            <a:off x="6876288" y="2926080"/>
            <a:ext cx="201168" cy="201168"/>
          </a:xfrm>
          <a:prstGeom prst="ellipse">
            <a:avLst/>
          </a:prstGeom>
          <a:solidFill>
            <a:schemeClr val="accent5"/>
          </a:solidFill>
          <a:ln/>
        </p:spPr>
      </p:sp>
      <p:sp>
        <p:nvSpPr>
          <p:cNvPr id="16" name="Training region 5"/>
          <p:cNvSpPr/>
          <p:nvPr/>
        </p:nvSpPr>
        <p:spPr>
          <a:xfrm>
            <a:off x="7141464" y="2926080"/>
            <a:ext cx="201168" cy="201168"/>
          </a:xfrm>
          <a:prstGeom prst="ellipse">
            <a:avLst/>
          </a:prstGeom>
          <a:solidFill>
            <a:schemeClr val="accent5"/>
          </a:solidFill>
          <a:ln/>
        </p:spPr>
      </p:sp>
      <p:sp>
        <p:nvSpPr>
          <p:cNvPr id="17" name="Training region 6"/>
          <p:cNvSpPr/>
          <p:nvPr/>
        </p:nvSpPr>
        <p:spPr>
          <a:xfrm>
            <a:off x="7406640" y="2926080"/>
            <a:ext cx="201168" cy="201168"/>
          </a:xfrm>
          <a:prstGeom prst="ellipse">
            <a:avLst/>
          </a:prstGeom>
          <a:solidFill>
            <a:schemeClr val="accent5"/>
          </a:solidFill>
          <a:ln/>
        </p:spPr>
      </p:sp>
      <p:sp>
        <p:nvSpPr>
          <p:cNvPr id="18" name="Training region 7"/>
          <p:cNvSpPr/>
          <p:nvPr/>
        </p:nvSpPr>
        <p:spPr>
          <a:xfrm>
            <a:off x="7671816" y="2926080"/>
            <a:ext cx="201168" cy="201168"/>
          </a:xfrm>
          <a:prstGeom prst="ellipse">
            <a:avLst/>
          </a:prstGeom>
          <a:solidFill>
            <a:schemeClr val="accent5"/>
          </a:solidFill>
          <a:ln/>
        </p:spPr>
      </p:sp>
      <p:sp>
        <p:nvSpPr>
          <p:cNvPr id="19" name="Training region 8"/>
          <p:cNvSpPr/>
          <p:nvPr/>
        </p:nvSpPr>
        <p:spPr>
          <a:xfrm>
            <a:off x="7936992" y="2926080"/>
            <a:ext cx="201168" cy="201168"/>
          </a:xfrm>
          <a:prstGeom prst="ellipse">
            <a:avLst/>
          </a:prstGeom>
          <a:solidFill>
            <a:schemeClr val="accent5"/>
          </a:solidFill>
          <a:ln/>
        </p:spPr>
      </p:sp>
      <p:sp>
        <p:nvSpPr>
          <p:cNvPr id="20" name="Training region 9"/>
          <p:cNvSpPr/>
          <p:nvPr/>
        </p:nvSpPr>
        <p:spPr>
          <a:xfrm>
            <a:off x="8202168" y="2926080"/>
            <a:ext cx="201168" cy="201168"/>
          </a:xfrm>
          <a:prstGeom prst="ellipse">
            <a:avLst/>
          </a:prstGeom>
          <a:solidFill>
            <a:schemeClr val="accent5"/>
          </a:solidFill>
          <a:ln/>
        </p:spPr>
      </p:sp>
      <p:sp>
        <p:nvSpPr>
          <p:cNvPr id="21" name="Training region 10"/>
          <p:cNvSpPr/>
          <p:nvPr/>
        </p:nvSpPr>
        <p:spPr>
          <a:xfrm>
            <a:off x="8467344" y="2926080"/>
            <a:ext cx="201168" cy="201168"/>
          </a:xfrm>
          <a:prstGeom prst="ellipse">
            <a:avLst/>
          </a:prstGeom>
          <a:solidFill>
            <a:schemeClr val="accent5"/>
          </a:solidFill>
          <a:ln/>
        </p:spPr>
      </p:sp>
      <p:sp>
        <p:nvSpPr>
          <p:cNvPr id="22" name="Training region 11"/>
          <p:cNvSpPr/>
          <p:nvPr/>
        </p:nvSpPr>
        <p:spPr>
          <a:xfrm>
            <a:off x="8732520" y="2926080"/>
            <a:ext cx="201168" cy="201168"/>
          </a:xfrm>
          <a:prstGeom prst="ellipse">
            <a:avLst/>
          </a:prstGeom>
          <a:solidFill>
            <a:schemeClr val="accent5"/>
          </a:solidFill>
          <a:ln/>
        </p:spPr>
      </p:sp>
      <p:sp>
        <p:nvSpPr>
          <p:cNvPr id="23" name="Training region 12"/>
          <p:cNvSpPr/>
          <p:nvPr/>
        </p:nvSpPr>
        <p:spPr>
          <a:xfrm>
            <a:off x="8997696" y="2926080"/>
            <a:ext cx="201168" cy="201168"/>
          </a:xfrm>
          <a:prstGeom prst="ellipse">
            <a:avLst/>
          </a:prstGeom>
          <a:solidFill>
            <a:schemeClr val="accent5"/>
          </a:solidFill>
          <a:ln/>
        </p:spPr>
      </p:sp>
      <p:sp>
        <p:nvSpPr>
          <p:cNvPr id="24" name="Training region 13"/>
          <p:cNvSpPr/>
          <p:nvPr/>
        </p:nvSpPr>
        <p:spPr>
          <a:xfrm>
            <a:off x="9262872" y="2926080"/>
            <a:ext cx="201168" cy="201168"/>
          </a:xfrm>
          <a:prstGeom prst="ellipse">
            <a:avLst/>
          </a:prstGeom>
          <a:solidFill>
            <a:schemeClr val="accent5"/>
          </a:solidFill>
          <a:ln/>
        </p:spPr>
      </p:sp>
      <p:sp>
        <p:nvSpPr>
          <p:cNvPr id="25" name="Training region 14"/>
          <p:cNvSpPr/>
          <p:nvPr/>
        </p:nvSpPr>
        <p:spPr>
          <a:xfrm>
            <a:off x="9528048" y="2926080"/>
            <a:ext cx="201168" cy="201168"/>
          </a:xfrm>
          <a:prstGeom prst="ellipse">
            <a:avLst/>
          </a:prstGeom>
          <a:solidFill>
            <a:schemeClr val="accent5"/>
          </a:solidFill>
          <a:ln/>
        </p:spPr>
      </p:sp>
      <p:sp>
        <p:nvSpPr>
          <p:cNvPr id="26" name="Training region 15"/>
          <p:cNvSpPr/>
          <p:nvPr/>
        </p:nvSpPr>
        <p:spPr>
          <a:xfrm>
            <a:off x="9793224" y="2926080"/>
            <a:ext cx="201168" cy="201168"/>
          </a:xfrm>
          <a:prstGeom prst="ellipse">
            <a:avLst/>
          </a:prstGeom>
          <a:solidFill>
            <a:schemeClr val="accent5"/>
          </a:solidFill>
          <a:ln/>
        </p:spPr>
      </p:sp>
      <p:sp>
        <p:nvSpPr>
          <p:cNvPr id="27" name="Training region 16"/>
          <p:cNvSpPr/>
          <p:nvPr/>
        </p:nvSpPr>
        <p:spPr>
          <a:xfrm>
            <a:off x="10058400" y="2926080"/>
            <a:ext cx="201168" cy="201168"/>
          </a:xfrm>
          <a:prstGeom prst="ellipse">
            <a:avLst/>
          </a:prstGeom>
          <a:solidFill>
            <a:schemeClr val="accent5"/>
          </a:solidFill>
          <a:ln/>
        </p:spPr>
      </p:sp>
      <p:sp>
        <p:nvSpPr>
          <p:cNvPr id="28" name="Train to test arrow"/>
          <p:cNvSpPr/>
          <p:nvPr/>
        </p:nvSpPr>
        <p:spPr>
          <a:xfrm>
            <a:off x="10415016" y="2935224"/>
            <a:ext cx="292608" cy="182880"/>
          </a:xfrm>
          <a:prstGeom prst="rightArrow">
            <a:avLst/>
          </a:prstGeom>
          <a:solidFill>
            <a:schemeClr val="accent5"/>
          </a:solidFill>
          <a:ln/>
        </p:spPr>
      </p:sp>
      <p:sp>
        <p:nvSpPr>
          <p:cNvPr id="29" name="Test region"/>
          <p:cNvSpPr/>
          <p:nvPr/>
        </p:nvSpPr>
        <p:spPr>
          <a:xfrm>
            <a:off x="10844784" y="2889504"/>
            <a:ext cx="274320" cy="274320"/>
          </a:xfrm>
          <a:prstGeom prst="ellipse">
            <a:avLst/>
          </a:prstGeom>
          <a:solidFill>
            <a:schemeClr val="accent2"/>
          </a:solidFill>
          <a:ln/>
        </p:spPr>
      </p:sp>
      <p:sp>
        <p:nvSpPr>
          <p:cNvPr id="30" name="Train label"/>
          <p:cNvSpPr txBox="1"/>
          <p:nvPr/>
        </p:nvSpPr>
        <p:spPr>
          <a:xfrm>
            <a:off x="6080760" y="3246120"/>
            <a:ext cx="4178808" cy="274320"/>
          </a:xfrm>
          <a:prstGeom prst="rect">
            <a:avLst/>
          </a:prstGeom>
          <a:noFill/>
          <a:ln/>
        </p:spPr>
        <p:txBody>
          <a:bodyPr wrap="square" lIns="0" tIns="0" rIns="0" bIns="0" rtlCol="0" anchor="t"/>
          <a:lstStyle/>
          <a:p>
            <a:pPr algn="ctr" indent="0" marL="0">
              <a:buNone/>
            </a:pPr>
            <a:r>
              <a:rPr lang="en-US" sz="1300" dirty="0">
                <a:solidFill>
                  <a:schemeClr val="accent5"/>
                </a:solidFill>
              </a:rPr>
              <a:t>train on 16 regions</a:t>
            </a:r>
            <a:endParaRPr lang="en-US" sz="1300" dirty="0"/>
          </a:p>
        </p:txBody>
      </p:sp>
      <p:sp>
        <p:nvSpPr>
          <p:cNvPr id="31" name="Test label"/>
          <p:cNvSpPr txBox="1"/>
          <p:nvPr/>
        </p:nvSpPr>
        <p:spPr>
          <a:xfrm>
            <a:off x="10524744" y="3246120"/>
            <a:ext cx="914400" cy="274320"/>
          </a:xfrm>
          <a:prstGeom prst="rect">
            <a:avLst/>
          </a:prstGeom>
          <a:noFill/>
          <a:ln/>
        </p:spPr>
        <p:txBody>
          <a:bodyPr wrap="square" lIns="0" tIns="0" rIns="0" bIns="0" rtlCol="0" anchor="t"/>
          <a:lstStyle/>
          <a:p>
            <a:pPr algn="ctr" indent="0" marL="0">
              <a:buNone/>
            </a:pPr>
            <a:r>
              <a:rPr lang="en-US" sz="1300" b="1" dirty="0">
                <a:solidFill>
                  <a:schemeClr val="accent2"/>
                </a:solidFill>
              </a:rPr>
              <a:t>test</a:t>
            </a:r>
            <a:endParaRPr lang="en-US" sz="1300" dirty="0"/>
          </a:p>
        </p:txBody>
      </p:sp>
      <p:sp>
        <p:nvSpPr>
          <p:cNvPr id="32" name="Arms label"/>
          <p:cNvSpPr txBox="1"/>
          <p:nvPr/>
        </p:nvSpPr>
        <p:spPr>
          <a:xfrm>
            <a:off x="6080760" y="3657600"/>
            <a:ext cx="5242255" cy="320040"/>
          </a:xfrm>
          <a:prstGeom prst="rect">
            <a:avLst/>
          </a:prstGeom>
          <a:noFill/>
          <a:ln/>
        </p:spPr>
        <p:txBody>
          <a:bodyPr wrap="square" lIns="0" tIns="0" rIns="0" bIns="0" rtlCol="0" anchor="t"/>
          <a:lstStyle/>
          <a:p>
            <a:pPr indent="0" marL="0">
              <a:buNone/>
            </a:pPr>
            <a:r>
              <a:rPr lang="en-US" sz="1500" dirty="0">
                <a:solidFill>
                  <a:schemeClr val="accent5"/>
                </a:solidFill>
              </a:rPr>
              <a:t>Four models, same learning, different inputs:</a:t>
            </a:r>
            <a:endParaRPr lang="en-US" sz="1500" dirty="0"/>
          </a:p>
        </p:txBody>
      </p:sp>
      <p:sp>
        <p:nvSpPr>
          <p:cNvPr id="33" name="Arm Slope only"/>
          <p:cNvSpPr/>
          <p:nvPr/>
        </p:nvSpPr>
        <p:spPr>
          <a:xfrm>
            <a:off x="6080760" y="4069080"/>
            <a:ext cx="2529688" cy="731520"/>
          </a:xfrm>
          <a:prstGeom prst="roundRect">
            <a:avLst>
              <a:gd name="adj" fmla="val 12500"/>
            </a:avLst>
          </a:prstGeom>
          <a:solidFill>
            <a:schemeClr val="accent4"/>
          </a:solidFill>
          <a:ln/>
        </p:spPr>
      </p:sp>
      <p:sp>
        <p:nvSpPr>
          <p:cNvPr id="34" name="Arm Slope only text"/>
          <p:cNvSpPr txBox="1"/>
          <p:nvPr/>
        </p:nvSpPr>
        <p:spPr>
          <a:xfrm>
            <a:off x="6217920" y="4142232"/>
            <a:ext cx="2255368" cy="621792"/>
          </a:xfrm>
          <a:prstGeom prst="rect">
            <a:avLst/>
          </a:prstGeom>
          <a:noFill/>
          <a:ln/>
        </p:spPr>
        <p:txBody>
          <a:bodyPr wrap="square" lIns="0" tIns="0" rIns="0" bIns="0" rtlCol="0" anchor="t"/>
          <a:lstStyle/>
          <a:p>
            <a:pPr indent="0" marL="0">
              <a:buNone/>
            </a:pPr>
            <a:r>
              <a:rPr lang="en-US" sz="1500" b="1" dirty="0">
                <a:solidFill>
                  <a:schemeClr val="bg1"/>
                </a:solidFill>
              </a:rPr>
              <a:t>Slope only</a:t>
            </a:r>
            <a:endParaRPr lang="en-US" sz="1500" dirty="0"/>
          </a:p>
          <a:p>
            <a:pPr indent="0" marL="0">
              <a:buNone/>
            </a:pPr>
            <a:r>
              <a:rPr lang="en-US" sz="1200" dirty="0">
                <a:solidFill>
                  <a:schemeClr val="bg1"/>
                </a:solidFill>
              </a:rPr>
              <a:t>like Tobler</a:t>
            </a:r>
            <a:endParaRPr lang="en-US" sz="1500" dirty="0"/>
          </a:p>
        </p:txBody>
      </p:sp>
      <p:sp>
        <p:nvSpPr>
          <p:cNvPr id="35" name="Arm Map tags"/>
          <p:cNvSpPr/>
          <p:nvPr/>
        </p:nvSpPr>
        <p:spPr>
          <a:xfrm>
            <a:off x="8793328" y="4069080"/>
            <a:ext cx="2529688" cy="731520"/>
          </a:xfrm>
          <a:prstGeom prst="roundRect">
            <a:avLst>
              <a:gd name="adj" fmla="val 12500"/>
            </a:avLst>
          </a:prstGeom>
          <a:solidFill>
            <a:schemeClr val="accent2"/>
          </a:solidFill>
          <a:ln/>
        </p:spPr>
      </p:sp>
      <p:sp>
        <p:nvSpPr>
          <p:cNvPr id="36" name="Arm Map tags text"/>
          <p:cNvSpPr txBox="1"/>
          <p:nvPr/>
        </p:nvSpPr>
        <p:spPr>
          <a:xfrm>
            <a:off x="8930488" y="4142232"/>
            <a:ext cx="2255368" cy="621792"/>
          </a:xfrm>
          <a:prstGeom prst="rect">
            <a:avLst/>
          </a:prstGeom>
          <a:noFill/>
          <a:ln/>
        </p:spPr>
        <p:txBody>
          <a:bodyPr wrap="square" lIns="0" tIns="0" rIns="0" bIns="0" rtlCol="0" anchor="t"/>
          <a:lstStyle/>
          <a:p>
            <a:pPr indent="0" marL="0">
              <a:buNone/>
            </a:pPr>
            <a:r>
              <a:rPr lang="en-US" sz="1500" b="1" dirty="0">
                <a:solidFill>
                  <a:schemeClr val="bg1"/>
                </a:solidFill>
              </a:rPr>
              <a:t>Map tags</a:t>
            </a:r>
            <a:endParaRPr lang="en-US" sz="1500" dirty="0"/>
          </a:p>
          <a:p>
            <a:pPr indent="0" marL="0">
              <a:buNone/>
            </a:pPr>
            <a:r>
              <a:rPr lang="en-US" sz="1200" dirty="0">
                <a:solidFill>
                  <a:schemeClr val="bg1"/>
                </a:solidFill>
              </a:rPr>
              <a:t>OSM trail tags</a:t>
            </a:r>
            <a:endParaRPr lang="en-US" sz="1500" dirty="0"/>
          </a:p>
        </p:txBody>
      </p:sp>
      <p:sp>
        <p:nvSpPr>
          <p:cNvPr id="37" name="Arm Remote sensing"/>
          <p:cNvSpPr/>
          <p:nvPr/>
        </p:nvSpPr>
        <p:spPr>
          <a:xfrm>
            <a:off x="6080760" y="4937760"/>
            <a:ext cx="2529688" cy="731520"/>
          </a:xfrm>
          <a:prstGeom prst="roundRect">
            <a:avLst>
              <a:gd name="adj" fmla="val 12500"/>
            </a:avLst>
          </a:prstGeom>
          <a:solidFill>
            <a:schemeClr val="accent1"/>
          </a:solidFill>
          <a:ln/>
        </p:spPr>
      </p:sp>
      <p:sp>
        <p:nvSpPr>
          <p:cNvPr id="38" name="Arm Remote sensing text"/>
          <p:cNvSpPr txBox="1"/>
          <p:nvPr/>
        </p:nvSpPr>
        <p:spPr>
          <a:xfrm>
            <a:off x="6217920" y="5010912"/>
            <a:ext cx="2255368" cy="621792"/>
          </a:xfrm>
          <a:prstGeom prst="rect">
            <a:avLst/>
          </a:prstGeom>
          <a:noFill/>
          <a:ln/>
        </p:spPr>
        <p:txBody>
          <a:bodyPr wrap="square" lIns="0" tIns="0" rIns="0" bIns="0" rtlCol="0" anchor="t"/>
          <a:lstStyle/>
          <a:p>
            <a:pPr indent="0" marL="0">
              <a:buNone/>
            </a:pPr>
            <a:r>
              <a:rPr lang="en-US" sz="1500" b="1" dirty="0">
                <a:solidFill>
                  <a:schemeClr val="bg1"/>
                </a:solidFill>
              </a:rPr>
              <a:t>Remote sensing</a:t>
            </a:r>
            <a:endParaRPr lang="en-US" sz="1500" dirty="0"/>
          </a:p>
          <a:p>
            <a:pPr indent="0" marL="0">
              <a:buNone/>
            </a:pPr>
            <a:r>
              <a:rPr lang="en-US" sz="1200" dirty="0">
                <a:solidFill>
                  <a:schemeClr val="bg1"/>
                </a:solidFill>
              </a:rPr>
              <a:t>lidar terrain, vegetation</a:t>
            </a:r>
            <a:endParaRPr lang="en-US" sz="1500" dirty="0"/>
          </a:p>
        </p:txBody>
      </p:sp>
      <p:sp>
        <p:nvSpPr>
          <p:cNvPr id="39" name="Arm Both"/>
          <p:cNvSpPr/>
          <p:nvPr/>
        </p:nvSpPr>
        <p:spPr>
          <a:xfrm>
            <a:off x="8793328" y="4937760"/>
            <a:ext cx="2529688" cy="731520"/>
          </a:xfrm>
          <a:prstGeom prst="roundRect">
            <a:avLst>
              <a:gd name="adj" fmla="val 12500"/>
            </a:avLst>
          </a:prstGeom>
          <a:solidFill>
            <a:schemeClr val="accent3"/>
          </a:solidFill>
          <a:ln/>
        </p:spPr>
      </p:sp>
      <p:sp>
        <p:nvSpPr>
          <p:cNvPr id="40" name="Arm Both text"/>
          <p:cNvSpPr txBox="1"/>
          <p:nvPr/>
        </p:nvSpPr>
        <p:spPr>
          <a:xfrm>
            <a:off x="8930488" y="5010912"/>
            <a:ext cx="2255368" cy="621792"/>
          </a:xfrm>
          <a:prstGeom prst="rect">
            <a:avLst/>
          </a:prstGeom>
          <a:noFill/>
          <a:ln/>
        </p:spPr>
        <p:txBody>
          <a:bodyPr wrap="square" lIns="0" tIns="0" rIns="0" bIns="0" rtlCol="0" anchor="t"/>
          <a:lstStyle/>
          <a:p>
            <a:pPr indent="0" marL="0">
              <a:buNone/>
            </a:pPr>
            <a:r>
              <a:rPr lang="en-US" sz="1500" b="1" dirty="0">
                <a:solidFill>
                  <a:schemeClr val="bg1"/>
                </a:solidFill>
              </a:rPr>
              <a:t>Both</a:t>
            </a:r>
            <a:endParaRPr lang="en-US" sz="1500" dirty="0"/>
          </a:p>
          <a:p>
            <a:pPr indent="0" marL="0">
              <a:buNone/>
            </a:pPr>
            <a:r>
              <a:rPr lang="en-US" sz="1200" dirty="0">
                <a:solidFill>
                  <a:schemeClr val="bg1"/>
                </a:solidFill>
              </a:rPr>
              <a:t>tags + remote sensing</a:t>
            </a:r>
            <a:endParaRPr lang="en-US" sz="15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mj-lt" pitchFamily="34" charset="0"/>
                <a:ea typeface="+mj-lt" pitchFamily="34" charset="-122"/>
                <a:cs typeface="+mj-lt" pitchFamily="34" charset="-120"/>
              </a:rPr>
              <a:t>Data: 1,992 real hikes in 17 regions</a:t>
            </a:r>
            <a:endParaRPr lang="en-US" sz="3400" dirty="0"/>
          </a:p>
        </p:txBody>
      </p:sp>
      <p:pic>
        <p:nvPicPr>
          <p:cNvPr id="3" name="Map of the 17 regions" descr="/Users/brian/Desktop/GeoAI/meeting_plots/oct23_lab/assets/slide_map.png">    </p:cNvPr>
          <p:cNvPicPr>
            <a:picLocks noChangeAspect="1"/>
          </p:cNvPicPr>
          <p:nvPr/>
        </p:nvPicPr>
        <p:blipFill>
          <a:blip r:embed="rId1"/>
          <a:stretch>
            <a:fillRect/>
          </a:stretch>
        </p:blipFill>
        <p:spPr>
          <a:xfrm>
            <a:off x="548640" y="1280160"/>
            <a:ext cx="6949440" cy="3413678"/>
          </a:xfrm>
          <a:prstGeom prst="rect">
            <a:avLst/>
          </a:prstGeom>
        </p:spPr>
      </p:pic>
      <p:sp>
        <p:nvSpPr>
          <p:cNvPr id="4" name="Map caption"/>
          <p:cNvSpPr txBox="1"/>
          <p:nvPr/>
        </p:nvSpPr>
        <p:spPr>
          <a:xfrm>
            <a:off x="548640" y="4739558"/>
            <a:ext cx="6949440" cy="274320"/>
          </a:xfrm>
          <a:prstGeom prst="rect">
            <a:avLst/>
          </a:prstGeom>
          <a:noFill/>
          <a:ln/>
        </p:spPr>
        <p:txBody>
          <a:bodyPr wrap="square" lIns="0" tIns="0" rIns="0" bIns="0" rtlCol="0" anchor="t"/>
          <a:lstStyle/>
          <a:p>
            <a:pPr indent="0" marL="0">
              <a:buNone/>
            </a:pPr>
            <a:r>
              <a:rPr lang="en-US" sz="1200" dirty="0">
                <a:solidFill>
                  <a:schemeClr val="accent4"/>
                </a:solidFill>
              </a:rPr>
              <a:t>Circle size = hours of walking</a:t>
            </a:r>
            <a:endParaRPr lang="en-US" sz="1200" dirty="0"/>
          </a:p>
        </p:txBody>
      </p:sp>
      <p:sp>
        <p:nvSpPr>
          <p:cNvPr id="5" name="Hikes value"/>
          <p:cNvSpPr txBox="1"/>
          <p:nvPr/>
        </p:nvSpPr>
        <p:spPr>
          <a:xfrm>
            <a:off x="8001000" y="1508760"/>
            <a:ext cx="3642055" cy="741680"/>
          </a:xfrm>
          <a:prstGeom prst="rect">
            <a:avLst/>
          </a:prstGeom>
          <a:noFill/>
          <a:ln/>
        </p:spPr>
        <p:txBody>
          <a:bodyPr wrap="square" lIns="0" tIns="0" rIns="0" bIns="0" rtlCol="0" anchor="t"/>
          <a:lstStyle/>
          <a:p>
            <a:pPr indent="0" marL="0">
              <a:buNone/>
            </a:pPr>
            <a:r>
              <a:rPr lang="en-US" sz="4400" b="1" dirty="0">
                <a:solidFill>
                  <a:schemeClr val="tx2"/>
                </a:solidFill>
                <a:latin typeface="+mj-lt" pitchFamily="34" charset="0"/>
                <a:ea typeface="+mj-lt" pitchFamily="34" charset="-122"/>
                <a:cs typeface="+mj-lt" pitchFamily="34" charset="-120"/>
              </a:rPr>
              <a:t>1,992</a:t>
            </a:r>
            <a:endParaRPr lang="en-US" sz="4400" dirty="0"/>
          </a:p>
        </p:txBody>
      </p:sp>
      <p:sp>
        <p:nvSpPr>
          <p:cNvPr id="6" name="Hikes label"/>
          <p:cNvSpPr txBox="1"/>
          <p:nvPr/>
        </p:nvSpPr>
        <p:spPr>
          <a:xfrm>
            <a:off x="8001000" y="2250440"/>
            <a:ext cx="3642055" cy="685800"/>
          </a:xfrm>
          <a:prstGeom prst="rect">
            <a:avLst/>
          </a:prstGeom>
          <a:noFill/>
          <a:ln/>
        </p:spPr>
        <p:txBody>
          <a:bodyPr wrap="square" lIns="0" tIns="0" rIns="0" bIns="0" rtlCol="0" anchor="t"/>
          <a:lstStyle/>
          <a:p>
            <a:pPr indent="0" marL="0">
              <a:buNone/>
            </a:pPr>
            <a:r>
              <a:rPr lang="en-US" sz="1500" dirty="0">
                <a:solidFill>
                  <a:schemeClr val="tx1"/>
                </a:solidFill>
              </a:rPr>
              <a:t>hikes, from public GPS traces</a:t>
            </a:r>
            <a:endParaRPr lang="en-US" sz="1500" dirty="0"/>
          </a:p>
        </p:txBody>
      </p:sp>
      <p:sp>
        <p:nvSpPr>
          <p:cNvPr id="7" name="Segments value"/>
          <p:cNvSpPr txBox="1"/>
          <p:nvPr/>
        </p:nvSpPr>
        <p:spPr>
          <a:xfrm>
            <a:off x="8001000" y="3017520"/>
            <a:ext cx="3642055" cy="741680"/>
          </a:xfrm>
          <a:prstGeom prst="rect">
            <a:avLst/>
          </a:prstGeom>
          <a:noFill/>
          <a:ln/>
        </p:spPr>
        <p:txBody>
          <a:bodyPr wrap="square" lIns="0" tIns="0" rIns="0" bIns="0" rtlCol="0" anchor="t"/>
          <a:lstStyle/>
          <a:p>
            <a:pPr indent="0" marL="0">
              <a:buNone/>
            </a:pPr>
            <a:r>
              <a:rPr lang="en-US" sz="4400" b="1" dirty="0">
                <a:solidFill>
                  <a:schemeClr val="tx2"/>
                </a:solidFill>
                <a:latin typeface="+mj-lt" pitchFamily="34" charset="0"/>
                <a:ea typeface="+mj-lt" pitchFamily="34" charset="-122"/>
                <a:cs typeface="+mj-lt" pitchFamily="34" charset="-120"/>
              </a:rPr>
              <a:t>290,640</a:t>
            </a:r>
            <a:endParaRPr lang="en-US" sz="4400" dirty="0"/>
          </a:p>
        </p:txBody>
      </p:sp>
      <p:sp>
        <p:nvSpPr>
          <p:cNvPr id="8" name="Segments label"/>
          <p:cNvSpPr txBox="1"/>
          <p:nvPr/>
        </p:nvSpPr>
        <p:spPr>
          <a:xfrm>
            <a:off x="8001000" y="3759200"/>
            <a:ext cx="3642055" cy="685800"/>
          </a:xfrm>
          <a:prstGeom prst="rect">
            <a:avLst/>
          </a:prstGeom>
          <a:noFill/>
          <a:ln/>
        </p:spPr>
        <p:txBody>
          <a:bodyPr wrap="square" lIns="0" tIns="0" rIns="0" bIns="0" rtlCol="0" anchor="t"/>
          <a:lstStyle/>
          <a:p>
            <a:pPr indent="0" marL="0">
              <a:buNone/>
            </a:pPr>
            <a:r>
              <a:rPr lang="en-US" sz="1500" dirty="0">
                <a:solidFill>
                  <a:schemeClr val="tx1"/>
                </a:solidFill>
              </a:rPr>
              <a:t>trail segments of 50 m, each with a measured speed</a:t>
            </a:r>
            <a:endParaRPr lang="en-US" sz="1500" dirty="0"/>
          </a:p>
        </p:txBody>
      </p:sp>
      <p:sp>
        <p:nvSpPr>
          <p:cNvPr id="9" name="Pipeline step 1"/>
          <p:cNvSpPr/>
          <p:nvPr/>
        </p:nvSpPr>
        <p:spPr>
          <a:xfrm>
            <a:off x="548640" y="5257800"/>
            <a:ext cx="3362858" cy="868680"/>
          </a:xfrm>
          <a:prstGeom prst="roundRect">
            <a:avLst>
              <a:gd name="adj" fmla="val 10526"/>
            </a:avLst>
          </a:prstGeom>
          <a:solidFill>
            <a:schemeClr val="bg2"/>
          </a:solidFill>
          <a:ln/>
        </p:spPr>
      </p:sp>
      <p:sp>
        <p:nvSpPr>
          <p:cNvPr id="10" name="Pipeline step 1 text"/>
          <p:cNvSpPr txBox="1"/>
          <p:nvPr/>
        </p:nvSpPr>
        <p:spPr>
          <a:xfrm>
            <a:off x="731520" y="5257800"/>
            <a:ext cx="2997098" cy="868680"/>
          </a:xfrm>
          <a:prstGeom prst="rect">
            <a:avLst/>
          </a:prstGeom>
          <a:noFill/>
          <a:ln/>
        </p:spPr>
        <p:txBody>
          <a:bodyPr wrap="square" lIns="0" tIns="0" rIns="0" bIns="0" rtlCol="0" anchor="ctr"/>
          <a:lstStyle/>
          <a:p>
            <a:pPr algn="ctr" indent="0" marL="0">
              <a:buNone/>
            </a:pPr>
            <a:r>
              <a:rPr lang="en-US" sz="1600" dirty="0">
                <a:solidFill>
                  <a:schemeClr val="tx2"/>
                </a:solidFill>
              </a:rPr>
              <a:t>Public GPS traces from OpenStreetMap</a:t>
            </a:r>
            <a:endParaRPr lang="en-US" sz="1600" dirty="0"/>
          </a:p>
        </p:txBody>
      </p:sp>
      <p:sp>
        <p:nvSpPr>
          <p:cNvPr id="11" name="Pipeline arrow 1"/>
          <p:cNvSpPr/>
          <p:nvPr/>
        </p:nvSpPr>
        <p:spPr>
          <a:xfrm>
            <a:off x="4039514" y="5550408"/>
            <a:ext cx="246888" cy="274320"/>
          </a:xfrm>
          <a:prstGeom prst="rightArrow">
            <a:avLst/>
          </a:prstGeom>
          <a:solidFill>
            <a:schemeClr val="accent3"/>
          </a:solidFill>
          <a:ln/>
        </p:spPr>
      </p:sp>
      <p:sp>
        <p:nvSpPr>
          <p:cNvPr id="12" name="Pipeline step 2"/>
          <p:cNvSpPr/>
          <p:nvPr/>
        </p:nvSpPr>
        <p:spPr>
          <a:xfrm>
            <a:off x="4414418" y="5257800"/>
            <a:ext cx="3362858" cy="868680"/>
          </a:xfrm>
          <a:prstGeom prst="roundRect">
            <a:avLst>
              <a:gd name="adj" fmla="val 10526"/>
            </a:avLst>
          </a:prstGeom>
          <a:solidFill>
            <a:schemeClr val="bg2"/>
          </a:solidFill>
          <a:ln/>
        </p:spPr>
      </p:sp>
      <p:sp>
        <p:nvSpPr>
          <p:cNvPr id="13" name="Pipeline step 2 text"/>
          <p:cNvSpPr txBox="1"/>
          <p:nvPr/>
        </p:nvSpPr>
        <p:spPr>
          <a:xfrm>
            <a:off x="4597298" y="5257800"/>
            <a:ext cx="2997098" cy="868680"/>
          </a:xfrm>
          <a:prstGeom prst="rect">
            <a:avLst/>
          </a:prstGeom>
          <a:noFill/>
          <a:ln/>
        </p:spPr>
        <p:txBody>
          <a:bodyPr wrap="square" lIns="0" tIns="0" rIns="0" bIns="0" rtlCol="0" anchor="ctr"/>
          <a:lstStyle/>
          <a:p>
            <a:pPr algn="ctr" indent="0" marL="0">
              <a:buNone/>
            </a:pPr>
            <a:r>
              <a:rPr lang="en-US" sz="1600" dirty="0">
                <a:solidFill>
                  <a:schemeClr val="tx2"/>
                </a:solidFill>
              </a:rPr>
              <a:t>Clean, remove stops, snap to the trail map</a:t>
            </a:r>
            <a:endParaRPr lang="en-US" sz="1600" dirty="0"/>
          </a:p>
        </p:txBody>
      </p:sp>
      <p:sp>
        <p:nvSpPr>
          <p:cNvPr id="14" name="Pipeline arrow 2"/>
          <p:cNvSpPr/>
          <p:nvPr/>
        </p:nvSpPr>
        <p:spPr>
          <a:xfrm>
            <a:off x="7905293" y="5550408"/>
            <a:ext cx="246888" cy="274320"/>
          </a:xfrm>
          <a:prstGeom prst="rightArrow">
            <a:avLst/>
          </a:prstGeom>
          <a:solidFill>
            <a:schemeClr val="accent3"/>
          </a:solidFill>
          <a:ln/>
        </p:spPr>
      </p:sp>
      <p:sp>
        <p:nvSpPr>
          <p:cNvPr id="15" name="Pipeline step 3"/>
          <p:cNvSpPr/>
          <p:nvPr/>
        </p:nvSpPr>
        <p:spPr>
          <a:xfrm>
            <a:off x="8280197" y="5257800"/>
            <a:ext cx="3362858" cy="868680"/>
          </a:xfrm>
          <a:prstGeom prst="roundRect">
            <a:avLst>
              <a:gd name="adj" fmla="val 10526"/>
            </a:avLst>
          </a:prstGeom>
          <a:solidFill>
            <a:schemeClr val="bg2"/>
          </a:solidFill>
          <a:ln/>
        </p:spPr>
      </p:sp>
      <p:sp>
        <p:nvSpPr>
          <p:cNvPr id="16" name="Pipeline step 3 text"/>
          <p:cNvSpPr txBox="1"/>
          <p:nvPr/>
        </p:nvSpPr>
        <p:spPr>
          <a:xfrm>
            <a:off x="8463077" y="5257800"/>
            <a:ext cx="2997098" cy="868680"/>
          </a:xfrm>
          <a:prstGeom prst="rect">
            <a:avLst/>
          </a:prstGeom>
          <a:noFill/>
          <a:ln/>
        </p:spPr>
        <p:txBody>
          <a:bodyPr wrap="square" lIns="0" tIns="0" rIns="0" bIns="0" rtlCol="0" anchor="ctr"/>
          <a:lstStyle/>
          <a:p>
            <a:pPr algn="ctr" indent="0" marL="0">
              <a:buNone/>
            </a:pPr>
            <a:r>
              <a:rPr lang="en-US" sz="1600" dirty="0">
                <a:solidFill>
                  <a:schemeClr val="tx2"/>
                </a:solidFill>
              </a:rPr>
              <a:t>50 m segments with slope, map tags and lidar</a:t>
            </a:r>
            <a:endParaRPr lang="en-US" sz="16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mj-lt" pitchFamily="34" charset="0"/>
                <a:ea typeface="+mj-lt" pitchFamily="34" charset="-122"/>
                <a:cs typeface="+mj-lt" pitchFamily="34" charset="-120"/>
              </a:rPr>
              <a:t>Tobler's formula is too fast for real hikers</a:t>
            </a:r>
            <a:endParaRPr lang="en-US" sz="3400" dirty="0"/>
          </a:p>
        </p:txBody>
      </p:sp>
      <p:pic>
        <p:nvPicPr>
          <p:cNvPr id="3" name="Speed vs slope chart" descr="/Users/brian/Desktop/GeoAI/meeting_plots/oct23_lab/assets/slide_curve.png">    </p:cNvPr>
          <p:cNvPicPr>
            <a:picLocks noChangeAspect="1"/>
          </p:cNvPicPr>
          <p:nvPr/>
        </p:nvPicPr>
        <p:blipFill>
          <a:blip r:embed="rId1"/>
          <a:stretch>
            <a:fillRect/>
          </a:stretch>
        </p:blipFill>
        <p:spPr>
          <a:xfrm>
            <a:off x="548640" y="1234440"/>
            <a:ext cx="6400800" cy="4800600"/>
          </a:xfrm>
          <a:prstGeom prst="rect">
            <a:avLst/>
          </a:prstGeom>
        </p:spPr>
      </p:pic>
      <p:sp>
        <p:nvSpPr>
          <p:cNvPr id="4" name="Peak speed value"/>
          <p:cNvSpPr txBox="1"/>
          <p:nvPr/>
        </p:nvSpPr>
        <p:spPr>
          <a:xfrm>
            <a:off x="7498080" y="1737360"/>
            <a:ext cx="4144975" cy="868680"/>
          </a:xfrm>
          <a:prstGeom prst="rect">
            <a:avLst/>
          </a:prstGeom>
          <a:noFill/>
          <a:ln/>
        </p:spPr>
        <p:txBody>
          <a:bodyPr wrap="square" lIns="0" tIns="0" rIns="0" bIns="0" rtlCol="0" anchor="t"/>
          <a:lstStyle/>
          <a:p>
            <a:pPr indent="0" marL="0">
              <a:buNone/>
            </a:pPr>
            <a:r>
              <a:rPr lang="en-US" sz="5400" b="1" dirty="0">
                <a:solidFill>
                  <a:schemeClr val="accent1"/>
                </a:solidFill>
                <a:latin typeface="+mj-lt" pitchFamily="34" charset="0"/>
                <a:ea typeface="+mj-lt" pitchFamily="34" charset="-122"/>
                <a:cs typeface="+mj-lt" pitchFamily="34" charset="-120"/>
              </a:rPr>
              <a:t>4.2</a:t>
            </a:r>
            <a:pPr indent="0" marL="0">
              <a:buNone/>
            </a:pPr>
            <a:r>
              <a:rPr lang="en-US" sz="3000" b="1" dirty="0">
                <a:solidFill>
                  <a:schemeClr val="accent1"/>
                </a:solidFill>
                <a:latin typeface="+mj-lt" pitchFamily="34" charset="0"/>
                <a:ea typeface="+mj-lt" pitchFamily="34" charset="-122"/>
                <a:cs typeface="+mj-lt" pitchFamily="34" charset="-120"/>
              </a:rPr>
              <a:t> km/h</a:t>
            </a:r>
            <a:endParaRPr lang="en-US" sz="5400" dirty="0"/>
          </a:p>
        </p:txBody>
      </p:sp>
      <p:sp>
        <p:nvSpPr>
          <p:cNvPr id="5" name="Peak speed label"/>
          <p:cNvSpPr txBox="1"/>
          <p:nvPr/>
        </p:nvSpPr>
        <p:spPr>
          <a:xfrm>
            <a:off x="7498080" y="2606040"/>
            <a:ext cx="4144975" cy="777240"/>
          </a:xfrm>
          <a:prstGeom prst="rect">
            <a:avLst/>
          </a:prstGeom>
          <a:noFill/>
          <a:ln/>
        </p:spPr>
        <p:txBody>
          <a:bodyPr wrap="square" lIns="0" tIns="0" rIns="0" bIns="0" rtlCol="0" anchor="t"/>
          <a:lstStyle/>
          <a:p>
            <a:pPr indent="0" marL="0">
              <a:buNone/>
            </a:pPr>
            <a:r>
              <a:rPr lang="en-US" sz="1500" dirty="0">
                <a:solidFill>
                  <a:schemeClr val="tx1"/>
                </a:solidFill>
              </a:rPr>
              <a:t>real hikers' top speed</a:t>
            </a:r>
            <a:endParaRPr lang="en-US" sz="1500" dirty="0"/>
          </a:p>
          <a:p>
            <a:pPr indent="0" marL="0">
              <a:buNone/>
            </a:pPr>
            <a:r>
              <a:rPr lang="en-US" sz="1400" i="1" dirty="0">
                <a:solidFill>
                  <a:schemeClr val="accent4"/>
                </a:solidFill>
              </a:rPr>
              <a:t>Tobler says 6 km/h</a:t>
            </a:r>
            <a:endParaRPr lang="en-US" sz="1500" dirty="0"/>
          </a:p>
        </p:txBody>
      </p:sp>
      <p:sp>
        <p:nvSpPr>
          <p:cNvPr id="6" name="Tobler regions value"/>
          <p:cNvSpPr txBox="1"/>
          <p:nvPr/>
        </p:nvSpPr>
        <p:spPr>
          <a:xfrm>
            <a:off x="7498080" y="3703320"/>
            <a:ext cx="4144975" cy="868680"/>
          </a:xfrm>
          <a:prstGeom prst="rect">
            <a:avLst/>
          </a:prstGeom>
          <a:noFill/>
          <a:ln/>
        </p:spPr>
        <p:txBody>
          <a:bodyPr wrap="square" lIns="0" tIns="0" rIns="0" bIns="0" rtlCol="0" anchor="t"/>
          <a:lstStyle/>
          <a:p>
            <a:pPr indent="0" marL="0">
              <a:buNone/>
            </a:pPr>
            <a:r>
              <a:rPr lang="en-US" sz="5400" b="1" dirty="0">
                <a:solidFill>
                  <a:schemeClr val="tx2"/>
                </a:solidFill>
                <a:latin typeface="+mj-lt" pitchFamily="34" charset="0"/>
                <a:ea typeface="+mj-lt" pitchFamily="34" charset="-122"/>
                <a:cs typeface="+mj-lt" pitchFamily="34" charset="-120"/>
              </a:rPr>
              <a:t>17 of 17</a:t>
            </a:r>
            <a:endParaRPr lang="en-US" sz="5400" dirty="0"/>
          </a:p>
        </p:txBody>
      </p:sp>
      <p:sp>
        <p:nvSpPr>
          <p:cNvPr id="7" name="Tobler regions label"/>
          <p:cNvSpPr txBox="1"/>
          <p:nvPr/>
        </p:nvSpPr>
        <p:spPr>
          <a:xfrm>
            <a:off x="7498080" y="4572000"/>
            <a:ext cx="4144975" cy="685800"/>
          </a:xfrm>
          <a:prstGeom prst="rect">
            <a:avLst/>
          </a:prstGeom>
          <a:noFill/>
          <a:ln/>
        </p:spPr>
        <p:txBody>
          <a:bodyPr wrap="square" lIns="0" tIns="0" rIns="0" bIns="0" rtlCol="0" anchor="t"/>
          <a:lstStyle/>
          <a:p>
            <a:pPr indent="0" marL="0">
              <a:buNone/>
            </a:pPr>
            <a:r>
              <a:rPr lang="en-US" sz="1500" dirty="0">
                <a:solidFill>
                  <a:schemeClr val="tx1"/>
                </a:solidFill>
              </a:rPr>
              <a:t>regions where Tobler predicts worse than a curve fitted to real hikes</a:t>
            </a:r>
            <a:endParaRPr lang="en-US" sz="15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mj-lt" pitchFamily="34" charset="0"/>
                <a:ea typeface="+mj-lt" pitchFamily="34" charset="-122"/>
                <a:cs typeface="+mj-lt" pitchFamily="34" charset="-120"/>
              </a:rPr>
              <a:t>In new regions, terrain beats map tags</a:t>
            </a:r>
            <a:endParaRPr lang="en-US" sz="3400" dirty="0"/>
          </a:p>
        </p:txBody>
      </p:sp>
      <p:pic>
        <p:nvPicPr>
          <p:cNvPr id="3" name="Terrain vs tags in each held-out region" descr="/Users/brian/Desktop/GeoAI/meeting_plots/oct23_lab/assets/slide_regions.png">    </p:cNvPr>
          <p:cNvPicPr>
            <a:picLocks noChangeAspect="1"/>
          </p:cNvPicPr>
          <p:nvPr/>
        </p:nvPicPr>
        <p:blipFill>
          <a:blip r:embed="rId1"/>
          <a:stretch>
            <a:fillRect/>
          </a:stretch>
        </p:blipFill>
        <p:spPr>
          <a:xfrm>
            <a:off x="548640" y="1188720"/>
            <a:ext cx="6263640" cy="4876691"/>
          </a:xfrm>
          <a:prstGeom prst="rect">
            <a:avLst/>
          </a:prstGeom>
        </p:spPr>
      </p:pic>
      <p:sp>
        <p:nvSpPr>
          <p:cNvPr id="4" name="Regions won value"/>
          <p:cNvSpPr txBox="1"/>
          <p:nvPr/>
        </p:nvSpPr>
        <p:spPr>
          <a:xfrm>
            <a:off x="7269480" y="1554480"/>
            <a:ext cx="4373575" cy="868680"/>
          </a:xfrm>
          <a:prstGeom prst="rect">
            <a:avLst/>
          </a:prstGeom>
          <a:noFill/>
          <a:ln/>
        </p:spPr>
        <p:txBody>
          <a:bodyPr wrap="square" lIns="0" tIns="0" rIns="0" bIns="0" rtlCol="0" anchor="t"/>
          <a:lstStyle/>
          <a:p>
            <a:pPr indent="0" marL="0">
              <a:buNone/>
            </a:pPr>
            <a:r>
              <a:rPr lang="en-US" sz="5400" b="1" dirty="0">
                <a:solidFill>
                  <a:schemeClr val="accent1"/>
                </a:solidFill>
                <a:latin typeface="+mj-lt" pitchFamily="34" charset="0"/>
                <a:ea typeface="+mj-lt" pitchFamily="34" charset="-122"/>
                <a:cs typeface="+mj-lt" pitchFamily="34" charset="-120"/>
              </a:rPr>
              <a:t>16 of 17</a:t>
            </a:r>
            <a:endParaRPr lang="en-US" sz="5400" dirty="0"/>
          </a:p>
        </p:txBody>
      </p:sp>
      <p:sp>
        <p:nvSpPr>
          <p:cNvPr id="5" name="Regions won label"/>
          <p:cNvSpPr txBox="1"/>
          <p:nvPr/>
        </p:nvSpPr>
        <p:spPr>
          <a:xfrm>
            <a:off x="7269480" y="2423160"/>
            <a:ext cx="4373575" cy="685800"/>
          </a:xfrm>
          <a:prstGeom prst="rect">
            <a:avLst/>
          </a:prstGeom>
          <a:noFill/>
          <a:ln/>
        </p:spPr>
        <p:txBody>
          <a:bodyPr wrap="square" lIns="0" tIns="0" rIns="0" bIns="0" rtlCol="0" anchor="t"/>
          <a:lstStyle/>
          <a:p>
            <a:pPr indent="0" marL="0">
              <a:buNone/>
            </a:pPr>
            <a:r>
              <a:rPr lang="en-US" sz="1500" dirty="0">
                <a:solidFill>
                  <a:schemeClr val="tx1"/>
                </a:solidFill>
              </a:rPr>
              <a:t>new regions where terrain predicts better than map tags</a:t>
            </a:r>
            <a:endParaRPr lang="en-US" sz="1500" dirty="0"/>
          </a:p>
        </p:txBody>
      </p:sp>
      <p:sp>
        <p:nvSpPr>
          <p:cNvPr id="6" name="Terrain gain value"/>
          <p:cNvSpPr txBox="1"/>
          <p:nvPr/>
        </p:nvSpPr>
        <p:spPr>
          <a:xfrm>
            <a:off x="7269480" y="3474720"/>
            <a:ext cx="4373575" cy="868680"/>
          </a:xfrm>
          <a:prstGeom prst="rect">
            <a:avLst/>
          </a:prstGeom>
          <a:noFill/>
          <a:ln/>
        </p:spPr>
        <p:txBody>
          <a:bodyPr wrap="square" lIns="0" tIns="0" rIns="0" bIns="0" rtlCol="0" anchor="t"/>
          <a:lstStyle/>
          <a:p>
            <a:pPr indent="0" marL="0">
              <a:buNone/>
            </a:pPr>
            <a:r>
              <a:rPr lang="en-US" sz="5400" b="1" dirty="0">
                <a:solidFill>
                  <a:schemeClr val="accent1"/>
                </a:solidFill>
                <a:latin typeface="+mj-lt" pitchFamily="34" charset="0"/>
                <a:ea typeface="+mj-lt" pitchFamily="34" charset="-122"/>
                <a:cs typeface="+mj-lt" pitchFamily="34" charset="-120"/>
              </a:rPr>
              <a:t>2–3%</a:t>
            </a:r>
            <a:endParaRPr lang="en-US" sz="5400" dirty="0"/>
          </a:p>
        </p:txBody>
      </p:sp>
      <p:sp>
        <p:nvSpPr>
          <p:cNvPr id="7" name="Terrain gain label"/>
          <p:cNvSpPr txBox="1"/>
          <p:nvPr/>
        </p:nvSpPr>
        <p:spPr>
          <a:xfrm>
            <a:off x="7269480" y="4343400"/>
            <a:ext cx="4373575" cy="777240"/>
          </a:xfrm>
          <a:prstGeom prst="rect">
            <a:avLst/>
          </a:prstGeom>
          <a:noFill/>
          <a:ln/>
        </p:spPr>
        <p:txBody>
          <a:bodyPr wrap="square" lIns="0" tIns="0" rIns="0" bIns="0" rtlCol="0" anchor="t"/>
          <a:lstStyle/>
          <a:p>
            <a:pPr indent="0" marL="0">
              <a:buNone/>
            </a:pPr>
            <a:r>
              <a:rPr lang="en-US" sz="1500" dirty="0">
                <a:solidFill>
                  <a:schemeClr val="tx1"/>
                </a:solidFill>
              </a:rPr>
              <a:t>terrain's improvement over slope alone</a:t>
            </a:r>
            <a:endParaRPr lang="en-US" sz="1500" dirty="0"/>
          </a:p>
          <a:p>
            <a:pPr indent="0" marL="0">
              <a:buNone/>
            </a:pPr>
            <a:r>
              <a:rPr lang="en-US" sz="1400" i="1" dirty="0">
                <a:solidFill>
                  <a:schemeClr val="accent4"/>
                </a:solidFill>
              </a:rPr>
              <a:t>map tags: under 1%</a:t>
            </a:r>
            <a:endParaRPr lang="en-US" sz="1500" dirty="0"/>
          </a:p>
        </p:txBody>
      </p:sp>
      <p:sp>
        <p:nvSpPr>
          <p:cNvPr id="8" name="How to read"/>
          <p:cNvSpPr txBox="1"/>
          <p:nvPr/>
        </p:nvSpPr>
        <p:spPr>
          <a:xfrm>
            <a:off x="7269480" y="5349240"/>
            <a:ext cx="4373575" cy="548640"/>
          </a:xfrm>
          <a:prstGeom prst="rect">
            <a:avLst/>
          </a:prstGeom>
          <a:noFill/>
          <a:ln/>
        </p:spPr>
        <p:txBody>
          <a:bodyPr wrap="square" lIns="0" tIns="0" rIns="0" bIns="0" rtlCol="0" anchor="t"/>
          <a:lstStyle/>
          <a:p>
            <a:pPr indent="0" marL="0">
              <a:buNone/>
            </a:pPr>
            <a:r>
              <a:rPr lang="en-US" sz="1400" i="1" dirty="0">
                <a:solidFill>
                  <a:schemeClr val="accent4"/>
                </a:solidFill>
              </a:rPr>
              <a:t>Each row: train on the other 16 regions, test on this one.</a:t>
            </a:r>
            <a:endParaRPr lang="en-US" sz="14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Contours, Mt Washington" descr="/Users/brian/Desktop/GeoAI/meeting_plots/oct23_lab/assets/contours.png">    </p:cNvPr>
          <p:cNvPicPr>
            <a:picLocks noChangeAspect="1"/>
          </p:cNvPicPr>
          <p:nvPr/>
        </p:nvPicPr>
        <p:blipFill>
          <a:blip r:embed="rId1">
            <a:alphaModFix amt="38000"/>
          </a:blip>
          <a:stretch>
            <a:fillRect/>
          </a:stretch>
        </p:blipFill>
        <p:spPr>
          <a:xfrm>
            <a:off x="0" y="0"/>
            <a:ext cx="12191695" cy="6858000"/>
          </a:xfrm>
          <a:prstGeom prst="rect">
            <a:avLst/>
          </a:prstGeom>
        </p:spPr>
      </p:pic>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bg1"/>
                </a:solidFill>
                <a:latin typeface="+mj-lt" pitchFamily="34" charset="0"/>
                <a:ea typeface="+mj-lt" pitchFamily="34" charset="-122"/>
                <a:cs typeface="+mj-lt" pitchFamily="34" charset="-120"/>
              </a:rPr>
              <a:t>Next steps</a:t>
            </a:r>
            <a:endParaRPr lang="en-US" sz="3400" dirty="0"/>
          </a:p>
        </p:txBody>
      </p:sp>
      <p:sp>
        <p:nvSpPr>
          <p:cNvPr id="4" name="Done so far"/>
          <p:cNvSpPr txBox="1"/>
          <p:nvPr/>
        </p:nvSpPr>
        <p:spPr>
          <a:xfrm>
            <a:off x="548640" y="1234440"/>
            <a:ext cx="11094415" cy="365760"/>
          </a:xfrm>
          <a:prstGeom prst="rect">
            <a:avLst/>
          </a:prstGeom>
          <a:noFill/>
          <a:ln/>
        </p:spPr>
        <p:txBody>
          <a:bodyPr wrap="square" lIns="0" tIns="0" rIns="0" bIns="0" rtlCol="0" anchor="t"/>
          <a:lstStyle/>
          <a:p>
            <a:pPr indent="0" marL="0">
              <a:buNone/>
            </a:pPr>
            <a:r>
              <a:rPr lang="en-US" sz="1600" b="1" dirty="0">
                <a:solidFill>
                  <a:schemeClr val="accent5"/>
                </a:solidFill>
              </a:rPr>
              <a:t>Done so far: </a:t>
            </a:r>
            <a:pPr indent="0" marL="0">
              <a:buNone/>
            </a:pPr>
            <a:r>
              <a:rPr lang="en-US" sz="1600" dirty="0">
                <a:solidFill>
                  <a:schemeClr val="accent5"/>
                </a:solidFill>
              </a:rPr>
              <a:t>the dataset, the four-model comparison and a rough first draft of the paper.</a:t>
            </a:r>
            <a:endParaRPr lang="en-US" sz="1600" dirty="0"/>
          </a:p>
        </p:txBody>
      </p:sp>
      <p:sp>
        <p:nvSpPr>
          <p:cNvPr id="5" name="Next 1 when"/>
          <p:cNvSpPr txBox="1"/>
          <p:nvPr/>
        </p:nvSpPr>
        <p:spPr>
          <a:xfrm>
            <a:off x="548640" y="2093976"/>
            <a:ext cx="2286000" cy="411480"/>
          </a:xfrm>
          <a:prstGeom prst="rect">
            <a:avLst/>
          </a:prstGeom>
          <a:noFill/>
          <a:ln/>
        </p:spPr>
        <p:txBody>
          <a:bodyPr wrap="square" lIns="0" tIns="0" rIns="0" bIns="0" rtlCol="0" anchor="t"/>
          <a:lstStyle/>
          <a:p>
            <a:pPr indent="0" marL="0">
              <a:buNone/>
            </a:pPr>
            <a:r>
              <a:rPr lang="en-US" sz="1800" b="1" dirty="0">
                <a:solidFill>
                  <a:schemeClr val="accent5"/>
                </a:solidFill>
              </a:rPr>
              <a:t>Weeks 10–11</a:t>
            </a:r>
            <a:endParaRPr lang="en-US" sz="1800" dirty="0"/>
          </a:p>
        </p:txBody>
      </p:sp>
      <p:sp>
        <p:nvSpPr>
          <p:cNvPr id="6" name="Next 1 what"/>
          <p:cNvSpPr txBox="1"/>
          <p:nvPr/>
        </p:nvSpPr>
        <p:spPr>
          <a:xfrm>
            <a:off x="2971800" y="2057400"/>
            <a:ext cx="8671255" cy="502920"/>
          </a:xfrm>
          <a:prstGeom prst="rect">
            <a:avLst/>
          </a:prstGeom>
          <a:noFill/>
          <a:ln/>
        </p:spPr>
        <p:txBody>
          <a:bodyPr wrap="square" lIns="0" tIns="0" rIns="0" bIns="0" rtlCol="0" anchor="t"/>
          <a:lstStyle/>
          <a:p>
            <a:pPr indent="0" marL="0">
              <a:buNone/>
            </a:pPr>
            <a:r>
              <a:rPr lang="en-US" sz="2200" dirty="0">
                <a:solidFill>
                  <a:schemeClr val="bg1"/>
                </a:solidFill>
              </a:rPr>
              <a:t>Learn Tobler's constants from terrain, with uncertainty</a:t>
            </a:r>
            <a:endParaRPr lang="en-US" sz="2200" dirty="0"/>
          </a:p>
        </p:txBody>
      </p:sp>
      <p:sp>
        <p:nvSpPr>
          <p:cNvPr id="7" name="Next 2 when"/>
          <p:cNvSpPr txBox="1"/>
          <p:nvPr/>
        </p:nvSpPr>
        <p:spPr>
          <a:xfrm>
            <a:off x="548640" y="2871216"/>
            <a:ext cx="2286000" cy="411480"/>
          </a:xfrm>
          <a:prstGeom prst="rect">
            <a:avLst/>
          </a:prstGeom>
          <a:noFill/>
          <a:ln/>
        </p:spPr>
        <p:txBody>
          <a:bodyPr wrap="square" lIns="0" tIns="0" rIns="0" bIns="0" rtlCol="0" anchor="t"/>
          <a:lstStyle/>
          <a:p>
            <a:pPr indent="0" marL="0">
              <a:buNone/>
            </a:pPr>
            <a:r>
              <a:rPr lang="en-US" sz="1800" b="1" dirty="0">
                <a:solidFill>
                  <a:schemeClr val="accent5"/>
                </a:solidFill>
              </a:rPr>
              <a:t>Week 12, if time</a:t>
            </a:r>
            <a:endParaRPr lang="en-US" sz="1800" dirty="0"/>
          </a:p>
        </p:txBody>
      </p:sp>
      <p:sp>
        <p:nvSpPr>
          <p:cNvPr id="8" name="Next 2 what"/>
          <p:cNvSpPr txBox="1"/>
          <p:nvPr/>
        </p:nvSpPr>
        <p:spPr>
          <a:xfrm>
            <a:off x="2971800" y="2834640"/>
            <a:ext cx="8671255" cy="502920"/>
          </a:xfrm>
          <a:prstGeom prst="rect">
            <a:avLst/>
          </a:prstGeom>
          <a:noFill/>
          <a:ln/>
        </p:spPr>
        <p:txBody>
          <a:bodyPr wrap="square" lIns="0" tIns="0" rIns="0" bIns="0" rtlCol="0" anchor="t"/>
          <a:lstStyle/>
          <a:p>
            <a:pPr indent="0" marL="0">
              <a:buNone/>
            </a:pPr>
            <a:r>
              <a:rPr lang="en-US" sz="2200" dirty="0">
                <a:solidFill>
                  <a:schemeClr val="bg1"/>
                </a:solidFill>
              </a:rPr>
              <a:t>Add aerial imagery (NAIP) with a pretrained encoder</a:t>
            </a:r>
            <a:endParaRPr lang="en-US" sz="2200" dirty="0"/>
          </a:p>
        </p:txBody>
      </p:sp>
      <p:sp>
        <p:nvSpPr>
          <p:cNvPr id="9" name="Next 3 when"/>
          <p:cNvSpPr txBox="1"/>
          <p:nvPr/>
        </p:nvSpPr>
        <p:spPr>
          <a:xfrm>
            <a:off x="548640" y="3648456"/>
            <a:ext cx="2286000" cy="411480"/>
          </a:xfrm>
          <a:prstGeom prst="rect">
            <a:avLst/>
          </a:prstGeom>
          <a:noFill/>
          <a:ln/>
        </p:spPr>
        <p:txBody>
          <a:bodyPr wrap="square" lIns="0" tIns="0" rIns="0" bIns="0" rtlCol="0" anchor="t"/>
          <a:lstStyle/>
          <a:p>
            <a:pPr indent="0" marL="0">
              <a:buNone/>
            </a:pPr>
            <a:r>
              <a:rPr lang="en-US" sz="1800" b="1" dirty="0">
                <a:solidFill>
                  <a:schemeClr val="accent5"/>
                </a:solidFill>
              </a:rPr>
              <a:t>January</a:t>
            </a:r>
            <a:endParaRPr lang="en-US" sz="1800" dirty="0"/>
          </a:p>
        </p:txBody>
      </p:sp>
      <p:sp>
        <p:nvSpPr>
          <p:cNvPr id="10" name="Next 3 what"/>
          <p:cNvSpPr txBox="1"/>
          <p:nvPr/>
        </p:nvSpPr>
        <p:spPr>
          <a:xfrm>
            <a:off x="2971800" y="3611880"/>
            <a:ext cx="8671255" cy="502920"/>
          </a:xfrm>
          <a:prstGeom prst="rect">
            <a:avLst/>
          </a:prstGeom>
          <a:noFill/>
          <a:ln/>
        </p:spPr>
        <p:txBody>
          <a:bodyPr wrap="square" lIns="0" tIns="0" rIns="0" bIns="0" rtlCol="0" anchor="t"/>
          <a:lstStyle/>
          <a:p>
            <a:pPr indent="0" marL="0">
              <a:buNone/>
            </a:pPr>
            <a:r>
              <a:rPr lang="en-US" sz="2200" dirty="0">
                <a:solidFill>
                  <a:schemeClr val="bg1"/>
                </a:solidFill>
              </a:rPr>
              <a:t>Submit the paper to IGARSS 2027 (due 11 Jan)</a:t>
            </a:r>
            <a:endParaRPr lang="en-US" sz="2200" dirty="0"/>
          </a:p>
        </p:txBody>
      </p:sp>
      <p:sp>
        <p:nvSpPr>
          <p:cNvPr id="11" name="Question card"/>
          <p:cNvSpPr/>
          <p:nvPr/>
        </p:nvSpPr>
        <p:spPr>
          <a:xfrm>
            <a:off x="548640" y="4617720"/>
            <a:ext cx="11094415" cy="1143000"/>
          </a:xfrm>
          <a:prstGeom prst="roundRect">
            <a:avLst>
              <a:gd name="adj" fmla="val 8000"/>
            </a:avLst>
          </a:prstGeom>
          <a:solidFill>
            <a:schemeClr val="accent3">
              <a:alpha val="45000"/>
            </a:schemeClr>
          </a:solidFill>
          <a:ln/>
        </p:spPr>
      </p:sp>
      <p:sp>
        <p:nvSpPr>
          <p:cNvPr id="12" name="Question"/>
          <p:cNvSpPr txBox="1"/>
          <p:nvPr/>
        </p:nvSpPr>
        <p:spPr>
          <a:xfrm>
            <a:off x="868680" y="4617720"/>
            <a:ext cx="10454335" cy="1143000"/>
          </a:xfrm>
          <a:prstGeom prst="rect">
            <a:avLst/>
          </a:prstGeom>
          <a:noFill/>
          <a:ln/>
        </p:spPr>
        <p:txBody>
          <a:bodyPr wrap="square" lIns="0" tIns="0" rIns="0" bIns="0" rtlCol="0" anchor="ctr"/>
          <a:lstStyle/>
          <a:p>
            <a:pPr indent="0" marL="0">
              <a:buNone/>
            </a:pPr>
            <a:r>
              <a:rPr lang="en-US" sz="2000" b="1" dirty="0">
                <a:solidFill>
                  <a:schemeClr val="bg1"/>
                </a:solidFill>
              </a:rPr>
              <a:t>Question for you: </a:t>
            </a:r>
            <a:pPr indent="0" marL="0">
              <a:buNone/>
            </a:pPr>
            <a:r>
              <a:rPr lang="en-US" sz="2000" dirty="0">
                <a:solidFill>
                  <a:schemeClr val="bg1"/>
                </a:solidFill>
              </a:rPr>
              <a:t>which pretrained encoder would you use for 1 m aerial imagery along trails?</a:t>
            </a:r>
            <a:endParaRPr lang="en-US" sz="20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Trail Lidar">
  <a:themeElements>
    <a:clrScheme name="Trail Lidar">
      <a:dk1>
        <a:srgbClr val="1C2321"/>
      </a:dk1>
      <a:lt1>
        <a:srgbClr val="FFFFFF"/>
      </a:lt1>
      <a:dk2>
        <a:srgbClr val="1E3A2F"/>
      </a:dk2>
      <a:lt2>
        <a:srgbClr val="EEF2EF"/>
      </a:lt2>
      <a:accent1>
        <a:srgbClr val="2A78D6"/>
      </a:accent1>
      <a:accent2>
        <a:srgbClr val="EB6834"/>
      </a:accent2>
      <a:accent3>
        <a:srgbClr val="5E8C75"/>
      </a:accent3>
      <a:accent4>
        <a:srgbClr val="6E7D76"/>
      </a:accent4>
      <a:accent5>
        <a:srgbClr val="C9D8CF"/>
      </a:accent5>
      <a:accent6>
        <a:srgbClr val="E2A53B"/>
      </a:accent6>
      <a:hlink>
        <a:srgbClr val="2A78D6"/>
      </a:hlink>
      <a:folHlink>
        <a:srgbClr val="5E8C75"/>
      </a:folHlink>
    </a:clrScheme>
    <a:fontScheme name="Trail Lida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Washington University in St. Louis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Does Remote Sensing Beat the Trail Map?</dc:title>
  <dc:subject>PptxGenJS Presentation</dc:subject>
  <dc:creator>Brian Zhou</dc:creator>
  <cp:lastModifiedBy>Brian Zhou</cp:lastModifiedBy>
  <cp:revision>1</cp:revision>
  <dcterms:created xsi:type="dcterms:W3CDTF">2026-10-23T20:16:29Z</dcterms:created>
  <dcterms:modified xsi:type="dcterms:W3CDTF">2026-10-23T20:16:29Z</dcterms:modified>
</cp:coreProperties>
</file>