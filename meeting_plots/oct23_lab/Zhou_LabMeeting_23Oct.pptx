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aad3e49-700e-4754-17f7-bf623e4012ab}">
          <p14:sldIdLst>
            <p14:sldId id="256"/>
          </p14:sldIdLst>
        </p14:section>
        <p14:section name="Problem and goal" id="{290060ef-4a3e-ef9c-34ae-5b5628fcaa95}">
          <p14:sldIdLst>
            <p14:sldId id="257"/>
            <p14:sldId id="258"/>
          </p14:sldIdLst>
        </p14:section>
        <p14:section name="What I built" id="{2cafd3f1-675f-226b-862f-ef49fd8da66f}">
          <p14:sldIdLst>
            <p14:sldId id="259"/>
          </p14:sldIdLst>
        </p14:section>
        <p14:section name="Findings" id="{fa21799a-9b50-1923-c6cb-98536d5bfea6}">
          <p14:sldIdLst>
            <p14:sldId id="260"/>
            <p14:sldId id="261"/>
          </p14:sldIdLst>
        </p14:section>
        <p14:section name="Next steps" id="{803d3f78-45b1-3fee-bc6f-7be33f4bf9cf}">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chemeClr val="tx2"/>
                </a:solidFill>
                <a:latin typeface="+mn-lt"/>
              </a:defRPr>
            </a:pPr>
            <a:r>
              <a:rPr sz="1400" b="0" i="0" u="none" strike="noStrike">
                <a:solidFill>
                  <a:schemeClr val="tx2"/>
                </a:solidFill>
                <a:latin typeface="+mn-lt"/>
              </a:rPr>
              <a:t>Walked trail with a difficulty tag (sac_scale), by region</a:t>
            </a:r>
          </a:p>
        </c:rich>
      </c:tx>
      <c:layout/>
      <c:overlay val="0"/>
    </c:title>
    <c:autoTitleDeleted val="0"/>
    <c:plotArea>
      <c:layout/>
      <c:barChart>
        <c:barDir val="bar"/>
        <c:grouping val="clustered"/>
        <c:varyColors val="0"/>
        <c:ser>
          <c:idx val="0"/>
          <c:order val="0"/>
          <c:tx>
            <c:strRef>
              <c:f>Sheet1!$B$1</c:f>
              <c:strCache>
                <c:ptCount val="1"/>
                <c:pt idx="0">
                  <c:v>Walked trail with sac_scale (%)</c:v>
                </c:pt>
              </c:strCache>
            </c:strRef>
          </c:tx>
          <c:spPr>
            <a:solidFill>
              <a:schemeClr val="accent2"/>
            </a:solidFill>
            <a:effectLst/>
          </c:spPr>
          <c:invertIfNegative val="0"/>
          <c:dLbls>
            <c:numFmt formatCode="0.0&quot;%&quot;" sourceLinked="0"/>
            <c:txPr>
              <a:bodyPr/>
              <a:lstStyle/>
              <a:p>
                <a:pPr>
                  <a:defRPr b="0" i="0" strike="noStrike" sz="1000" u="none">
                    <a:solidFill>
                      <a:schemeClr val="tx1"/>
                    </a:solidFill>
                    <a:latin typeface="+mn-lt"/>
                  </a:defRPr>
                </a:pPr>
              </a:p>
            </c:txPr>
            <c:showLegendKey val="0"/>
            <c:showVal val="1"/>
            <c:showCatName val="0"/>
            <c:showSerName val="0"/>
            <c:showPercent val="0"/>
            <c:showBubbleSize val="0"/>
            <c:showLeaderLines val="0"/>
          </c:dLbls>
          <c:cat>
            <c:multiLvlStrRef>
              <c:f>Sheet1!$A$2:$A$18</c:f>
              <c:multiLvlStrCache>
                <c:ptCount val="17"/>
                <c:lvl>
                  <c:pt idx="0">
                    <c:v>Green Mtns</c:v>
                  </c:pt>
                  <c:pt idx="1">
                    <c:v>Bay Area</c:v>
                  </c:pt>
                  <c:pt idx="2">
                    <c:v>Smokies</c:v>
                  </c:pt>
                  <c:pt idx="3">
                    <c:v>Col. Gorge</c:v>
                  </c:pt>
                  <c:pt idx="4">
                    <c:v>Tahoe</c:v>
                  </c:pt>
                  <c:pt idx="5">
                    <c:v>Yosemite</c:v>
                  </c:pt>
                  <c:pt idx="6">
                    <c:v>Pisgah</c:v>
                  </c:pt>
                  <c:pt idx="7">
                    <c:v>Shenandoah</c:v>
                  </c:pt>
                  <c:pt idx="8">
                    <c:v>Cascades</c:v>
                  </c:pt>
                  <c:pt idx="9">
                    <c:v>San Gabriels</c:v>
                  </c:pt>
                  <c:pt idx="10">
                    <c:v>White Mtns</c:v>
                  </c:pt>
                  <c:pt idx="11">
                    <c:v>Front Range</c:v>
                  </c:pt>
                  <c:pt idx="12">
                    <c:v>Olympic</c:v>
                  </c:pt>
                  <c:pt idx="13">
                    <c:v>Catskills</c:v>
                  </c:pt>
                  <c:pt idx="14">
                    <c:v>North Shore</c:v>
                  </c:pt>
                  <c:pt idx="15">
                    <c:v>Wasatch</c:v>
                  </c:pt>
                  <c:pt idx="16">
                    <c:v>Adirondacks</c:v>
                  </c:pt>
                </c:lvl>
              </c:multiLvlStrCache>
            </c:multiLvlStrRef>
          </c:cat>
          <c:val>
            <c:numRef>
              <c:f>Sheet1!$B$2:$B$18</c:f>
              <c:numCache>
                <c:formatCode>General</c:formatCode>
                <c:ptCount val="17"/>
                <c:pt idx="0">
                  <c:v>1.5</c:v>
                </c:pt>
                <c:pt idx="1">
                  <c:v>4.9</c:v>
                </c:pt>
                <c:pt idx="2">
                  <c:v>5.9</c:v>
                </c:pt>
                <c:pt idx="3">
                  <c:v>6.7</c:v>
                </c:pt>
                <c:pt idx="4">
                  <c:v>13.8</c:v>
                </c:pt>
                <c:pt idx="5">
                  <c:v>30.3</c:v>
                </c:pt>
                <c:pt idx="6">
                  <c:v>31.4</c:v>
                </c:pt>
                <c:pt idx="7">
                  <c:v>32.9</c:v>
                </c:pt>
                <c:pt idx="8">
                  <c:v>44.1</c:v>
                </c:pt>
                <c:pt idx="9">
                  <c:v>46.3</c:v>
                </c:pt>
                <c:pt idx="10">
                  <c:v>50.7</c:v>
                </c:pt>
                <c:pt idx="11">
                  <c:v>52</c:v>
                </c:pt>
                <c:pt idx="12">
                  <c:v>52.2</c:v>
                </c:pt>
                <c:pt idx="13">
                  <c:v>61.5</c:v>
                </c:pt>
                <c:pt idx="14">
                  <c:v>62.7</c:v>
                </c:pt>
                <c:pt idx="15">
                  <c:v>86.3</c:v>
                </c:pt>
                <c:pt idx="16">
                  <c:v>96.2</c:v>
                </c:pt>
              </c:numCache>
            </c:numRef>
          </c:val>
        </c:ser>
        <c:dLbls>
          <c:numFmt formatCode="0.0&quot;%&quot;" sourceLinked="0"/>
          <c:txPr>
            <a:bodyPr/>
            <a:lstStyle/>
            <a:p>
              <a:pPr>
                <a:defRPr b="0" i="0" strike="noStrike" sz="1000" u="none">
                  <a:solidFill>
                    <a:schemeClr val="tx1"/>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chemeClr val="tx1"/>
                </a:solidFill>
                <a:latin typeface="+mn-lt"/>
              </a:defRPr>
            </a:pPr>
            <a:endParaRPr lang="en-US"/>
          </a:p>
        </c:txPr>
        <c:crossAx val="2094734552"/>
        <c:crosses val="autoZero"/>
        <c:auto val="1"/>
        <c:lblAlgn val="ctr"/>
        <c:noMultiLvlLbl val="1"/>
      </c:catAx>
      <c:valAx>
        <c:axId val="2094734552"/>
        <c:scaling>
          <c:orientation val="minMax"/>
          <c:max val="11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I'm Brian. With Danni and Tianyi I'm working on predicting how fast people hike, from public GPS traces and remote sensing. In five minutes: the problem, what's been done, what I built, two findings,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if software estimates how long a hike takes, it usually uses Tobler's formula from 1993. v is walking speed, s is the slope. It says you're fastest, 6 km/h, on a gentle downhill, and slower the steeper it gets: about 5 km/h on flat ground, 2.5 on a 20% climb. There are three problems. It was fit to numbers in a cartography textbook, not to real hikes. It's one curve for every trail, so a rocky scramble and a smooth path get the same speed. And it's still what GIS tools use for search and rescue, wildfire escape routes and trail apps. Could the trail map fix this? OpenStreetMap has a difficulty grade called sac_scale, from the Swiss Alpine Club: from easy 'hiking' up to 'alpine hiking'. But this chart shows how much of the trail actually has it: 96% in the Adirondacks, under 2% in the Green Mountains. For most trails, the map can't tell you how hard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have people tackled this before? Some refit the slope curve with data from fitness apps like Strava and AllTrails, and found Tobler is too fast, but they still use slope only. Others add more inputs: trail types and lidar in England, weather and other factors in Hong Kong. But they test on the same area they trained on, so the test trails sit right next to the training trails. STRIDE builds a lidar model from timed field walks, and our lab's RasterNet predicts road speed from lidar and aerial imagery. What's missing: nobody has checked whether these models work in a region they've never seen, which is where predictions are actually needed, and nobody has compared the map's tags with remote sensing head to head. So our goal: predict the speed on every 50 m of trail, with a range, from what's visible from above, and test it on a region the model never saw: train on 16 regions, test on the 17th. We compare four models that learn the same way but see different inputs: slope only, the map's tags, remote sensing, 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data. I used public GPS tracks that hikers upload to OpenStreetMap, from 17 mountain regions in the US and Canada; bigger circles mean more hours of hiking. For each track, the pipeline at the bottom removes GPS glitches and stops, because we want walking speed, not lunch breaks. Then it snaps the points onto the trail map, the way a car's navigation snaps you to the road, and cuts the hike into 50-meter pieces. Each piece gets its speed and slope, plus what the map says about the trail and what lidar and satellites see. In total that's 290,640 pieces from about 2,000 hikes: 14,500 km and 4,700 hours of walking. The inset is the White Mountains, with every piece colored by speed. (If asked: a group that uploads several tracks of the same walk counts as one hike; snapping uses a hidden Markov model; 85 to 99% of points match, depending on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finding. Real hikers peak around 4.2 km/h, not 6, and the top of the curve is rounded. From hikes where the same person walked the same trail both ways, going down is only 8 to 23% faster than going up; Tobler assumes 42% at every grade. Scored in regions the model never saw, Tobler is worse than a refitted slope curve in all 17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result. Each bar is a model's skill over a slope-only curve: light bars are new hikes in regions the model knows, dark bars are regions it never saw. Terrain from elevation keeps its gain in new regions, about 2 to 3%, and on the right it beats the map tags in 16 of 17 held-out regions. Tags lose most of their gain. This holds for newer hikes, any GPS rate, whole zones held out, and even with all of a region's hikers removed from training. Vegetation and satellite embeddings help inside a region but don't transfer.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are: the dataset, the covariates, the four-model comparison and the curves are done, and there's a first paper draft. Next, in weeks 10 and 11, the plan's main model: Tobler's form with its constants learned from the terrain, plus a variance head, in PyTorch. That's Gate 2 on November 6: does it beat boosted trees? Week 12: an imagery arm with NAIP and a frozen pretrained encoder. Then the full draft and IGARSS in January. One question for you: which pretrained aerial-imagery encoder would you use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83080"/>
            <a:ext cx="8961120" cy="160020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8961120" cy="59436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endParaRPr lang="en-US" sz="34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Brian Zhou  ·  MVRL lab meeting  ·  23 Oct 2026</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400" b="1" dirty="0">
                <a:solidFill>
                  <a:schemeClr val="bg1"/>
                </a:solidFill>
                <a:latin typeface="+mj-lt" pitchFamily="34" charset="0"/>
                <a:ea typeface="+mj-lt" pitchFamily="34" charset="-122"/>
                <a:cs typeface="+mj-lt" pitchFamily="34" charset="-120"/>
              </a:defRPr>
            </a:lvl1pPr>
          </a:lstStyle>
          <a:p>
            <a:pPr algn="l" indent="0" marL="0">
              <a:buNone/>
            </a:pPr>
            <a:endParaRPr lang="en-US" sz="34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Brian Zhou  ·  MVRL lab meeting  ·  23 Oct 2026</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ntours, Mt Washington" descr="/Users/brian/Desktop/GeoAI/meeting_plots/oct23_lab/assets/contours.pn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Kicker"/>
          <p:cNvSpPr txBox="1"/>
          <p:nvPr/>
        </p:nvSpPr>
        <p:spPr>
          <a:xfrm>
            <a:off x="731520" y="1325880"/>
            <a:ext cx="8961120" cy="320040"/>
          </a:xfrm>
          <a:prstGeom prst="rect">
            <a:avLst/>
          </a:prstGeom>
          <a:noFill/>
          <a:ln/>
        </p:spPr>
        <p:txBody>
          <a:bodyPr wrap="square" lIns="0" tIns="0" rIns="0" bIns="0" rtlCol="0" anchor="t"/>
          <a:lstStyle/>
          <a:p>
            <a:pPr indent="0" marL="0">
              <a:buNone/>
            </a:pPr>
            <a:r>
              <a:rPr lang="en-US" sz="1400" b="1" spc="200" kern="0" dirty="0">
                <a:solidFill>
                  <a:schemeClr val="accent5"/>
                </a:solidFill>
              </a:rPr>
              <a:t>MVRL LAB MEETING  ·  23 OCT 2026</a:t>
            </a:r>
            <a:endParaRPr lang="en-US" sz="1400" dirty="0"/>
          </a:p>
        </p:txBody>
      </p:sp>
      <p:sp>
        <p:nvSpPr>
          <p:cNvPr id="4" name="Text 0"/>
          <p:cNvSpPr/>
          <p:nvPr>
            <p:ph idx="100" type="title" hasCustomPrompt="1"/>
          </p:nvPr>
        </p:nvSpPr>
        <p:spPr>
          <a:xfrm>
            <a:off x="731520" y="1783080"/>
            <a:ext cx="8961120" cy="16002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Does Remote Sensing Beat the Trail Map?</a:t>
            </a:r>
            <a:endParaRPr lang="en-US" sz="4400" dirty="0"/>
          </a:p>
        </p:txBody>
      </p:sp>
      <p:sp>
        <p:nvSpPr>
          <p:cNvPr id="5" name="Text 0"/>
          <p:cNvSpPr/>
          <p:nvPr>
            <p:ph idx="101" type="body" hasCustomPrompt="1"/>
          </p:nvPr>
        </p:nvSpPr>
        <p:spPr>
          <a:xfrm>
            <a:off x="731520" y="3520440"/>
            <a:ext cx="8961120" cy="594360"/>
          </a:xfrm>
          <a:prstGeom prst="rect">
            <a:avLst/>
          </a:prstGeom>
          <a:noFill/>
          <a:ln/>
        </p:spPr>
        <p:txBody>
          <a:bodyPr wrap="square" lIns="0" tIns="0" rIns="0" bIns="0" rtlCol="0" anchor="t"/>
          <a:lstStyle/>
          <a:p>
            <a:pPr indent="0" marL="0">
              <a:buNone/>
            </a:pPr>
            <a:r>
              <a:rPr lang="en-US" sz="2200" dirty="0">
                <a:solidFill>
                  <a:schemeClr val="accent5"/>
                </a:solidFill>
              </a:rPr>
              <a:t>Predicting hiking speed in regions a model has never seen</a:t>
            </a:r>
            <a:endParaRPr lang="en-US" sz="2200" dirty="0"/>
          </a:p>
        </p:txBody>
      </p:sp>
      <p:sp>
        <p:nvSpPr>
          <p:cNvPr id="6" name="Author"/>
          <p:cNvSpPr txBox="1"/>
          <p:nvPr/>
        </p:nvSpPr>
        <p:spPr>
          <a:xfrm>
            <a:off x="731520" y="4434840"/>
            <a:ext cx="10515600" cy="731520"/>
          </a:xfrm>
          <a:prstGeom prst="rect">
            <a:avLst/>
          </a:prstGeom>
          <a:noFill/>
          <a:ln/>
        </p:spPr>
        <p:txBody>
          <a:bodyPr wrap="square" lIns="0" tIns="0" rIns="0" bIns="0" rtlCol="0" anchor="t"/>
          <a:lstStyle/>
          <a:p>
            <a:pPr indent="0" marL="0">
              <a:buNone/>
            </a:pPr>
            <a:r>
              <a:rPr lang="en-US" sz="1800" b="1" dirty="0">
                <a:solidFill>
                  <a:schemeClr val="bg1"/>
                </a:solidFill>
              </a:rPr>
              <a:t>Brian Zhou</a:t>
            </a:r>
            <a:endParaRPr lang="en-US" sz="1800" dirty="0"/>
          </a:p>
          <a:p>
            <a:pPr indent="0" marL="0">
              <a:buNone/>
            </a:pPr>
            <a:r>
              <a:rPr lang="en-US" sz="1400" dirty="0">
                <a:solidFill>
                  <a:schemeClr val="accent5"/>
                </a:solidFill>
              </a:rPr>
              <a:t>CSE 5999 independent study  ·  Mentors Danni Beaulieu and Tianyi Gao  ·  Advisor Prof. Nathan Jacobs</a:t>
            </a:r>
            <a:endParaRPr lang="en-US" sz="1800" dirty="0"/>
          </a:p>
        </p:txBody>
      </p:sp>
      <p:sp>
        <p:nvSpPr>
          <p:cNvPr id="7" name="Credits"/>
          <p:cNvSpPr txBox="1"/>
          <p:nvPr/>
        </p:nvSpPr>
        <p:spPr>
          <a:xfrm>
            <a:off x="731520" y="6172200"/>
            <a:ext cx="10698480" cy="320040"/>
          </a:xfrm>
          <a:prstGeom prst="rect">
            <a:avLst/>
          </a:prstGeom>
          <a:noFill/>
          <a:ln/>
        </p:spPr>
        <p:txBody>
          <a:bodyPr wrap="square" lIns="0" tIns="0" rIns="0" bIns="0" rtlCol="0" anchor="t"/>
          <a:lstStyle/>
          <a:p>
            <a:pPr indent="0" marL="0">
              <a:buNone/>
            </a:pPr>
            <a:r>
              <a:rPr lang="en-US" sz="1000" dirty="0">
                <a:solidFill>
                  <a:schemeClr val="accent5"/>
                </a:solidFill>
              </a:rPr>
              <a:t>Background: 10 m contours of Tuckerman and Huntington ravines, Mt Washington, NH, from USGS 3DEP 1 m lidar.  Slides prepared with help from Claude (Anthropic).</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GIS still times hikes with a 1993 formula</a:t>
            </a:r>
            <a:endParaRPr lang="en-US" sz="3400" dirty="0"/>
          </a:p>
        </p:txBody>
      </p:sp>
      <p:sp>
        <p:nvSpPr>
          <p:cNvPr id="3" name="Formula card"/>
          <p:cNvSpPr/>
          <p:nvPr/>
        </p:nvSpPr>
        <p:spPr>
          <a:xfrm>
            <a:off x="548640" y="1325880"/>
            <a:ext cx="5486400" cy="1737360"/>
          </a:xfrm>
          <a:prstGeom prst="roundRect">
            <a:avLst>
              <a:gd name="adj" fmla="val 5263"/>
            </a:avLst>
          </a:prstGeom>
          <a:solidFill>
            <a:schemeClr val="bg2"/>
          </a:solidFill>
          <a:ln/>
        </p:spPr>
      </p:sp>
      <p:sp>
        <p:nvSpPr>
          <p:cNvPr id="4" name="Formula label"/>
          <p:cNvSpPr txBox="1"/>
          <p:nvPr/>
        </p:nvSpPr>
        <p:spPr>
          <a:xfrm>
            <a:off x="822960" y="1481328"/>
            <a:ext cx="4937760" cy="274320"/>
          </a:xfrm>
          <a:prstGeom prst="rect">
            <a:avLst/>
          </a:prstGeom>
          <a:noFill/>
          <a:ln/>
        </p:spPr>
        <p:txBody>
          <a:bodyPr wrap="square" lIns="0" tIns="0" rIns="0" bIns="0" rtlCol="0" anchor="t"/>
          <a:lstStyle/>
          <a:p>
            <a:pPr indent="0" marL="0">
              <a:buNone/>
            </a:pPr>
            <a:r>
              <a:rPr lang="en-US" sz="1200" b="1" spc="150" kern="0" dirty="0">
                <a:solidFill>
                  <a:schemeClr val="accent3"/>
                </a:solidFill>
              </a:rPr>
              <a:t>TOBLER'S HIKING FUNCTION (1993)</a:t>
            </a:r>
            <a:endParaRPr lang="en-US" sz="1200" dirty="0"/>
          </a:p>
        </p:txBody>
      </p:sp>
      <p:sp>
        <p:nvSpPr>
          <p:cNvPr id="5" name="Formula"/>
          <p:cNvSpPr txBox="1"/>
          <p:nvPr/>
        </p:nvSpPr>
        <p:spPr>
          <a:xfrm>
            <a:off x="822960" y="1810512"/>
            <a:ext cx="4937760" cy="685800"/>
          </a:xfrm>
          <a:prstGeom prst="rect">
            <a:avLst/>
          </a:prstGeom>
          <a:noFill/>
          <a:ln/>
        </p:spPr>
        <p:txBody>
          <a:bodyPr wrap="square" lIns="0" tIns="0" rIns="0" bIns="0" rtlCol="0" anchor="ctr"/>
          <a:lstStyle/>
          <a:p>
            <a:pPr indent="0" marL="0">
              <a:buNone/>
            </a:pPr>
            <a:r>
              <a:rPr lang="en-US" sz="3000" dirty="0">
                <a:solidFill>
                  <a:schemeClr val="tx1"/>
                </a:solidFill>
                <a:latin typeface="+mj-lt" pitchFamily="34" charset="0"/>
                <a:ea typeface="+mj-lt" pitchFamily="34" charset="-122"/>
                <a:cs typeface="+mj-lt" pitchFamily="34" charset="-120"/>
              </a:rPr>
              <a:t>v = 6 e</a:t>
            </a:r>
            <a:pPr indent="0" marL="0">
              <a:buNone/>
            </a:pPr>
            <a:r>
              <a:rPr lang="en-US" sz="3000" baseline="30000" dirty="0">
                <a:solidFill>
                  <a:schemeClr val="tx1"/>
                </a:solidFill>
                <a:latin typeface="+mj-lt" pitchFamily="34" charset="0"/>
                <a:ea typeface="+mj-lt" pitchFamily="34" charset="-122"/>
                <a:cs typeface="+mj-lt" pitchFamily="34" charset="-120"/>
              </a:rPr>
              <a:t>−3.5 |s + 0.05|</a:t>
            </a:r>
            <a:pPr indent="0" marL="0">
              <a:buNone/>
            </a:pPr>
            <a:r>
              <a:rPr lang="en-US" sz="1800" dirty="0">
                <a:solidFill>
                  <a:schemeClr val="accent4"/>
                </a:solidFill>
              </a:rPr>
              <a:t>   km/h</a:t>
            </a:r>
            <a:endParaRPr lang="en-US" sz="3000" dirty="0"/>
          </a:p>
        </p:txBody>
      </p:sp>
      <p:sp>
        <p:nvSpPr>
          <p:cNvPr id="6" name="Formula how to read"/>
          <p:cNvSpPr txBox="1"/>
          <p:nvPr/>
        </p:nvSpPr>
        <p:spPr>
          <a:xfrm>
            <a:off x="822960" y="2514600"/>
            <a:ext cx="4937760" cy="457200"/>
          </a:xfrm>
          <a:prstGeom prst="rect">
            <a:avLst/>
          </a:prstGeom>
          <a:noFill/>
          <a:ln/>
        </p:spPr>
        <p:txBody>
          <a:bodyPr wrap="square" lIns="0" tIns="0" rIns="0" bIns="0" rtlCol="0" anchor="t"/>
          <a:lstStyle/>
          <a:p>
            <a:pPr indent="0" marL="0">
              <a:buNone/>
            </a:pPr>
            <a:r>
              <a:rPr lang="en-US" sz="1400" dirty="0">
                <a:solidFill>
                  <a:schemeClr val="tx1"/>
                </a:solidFill>
              </a:rPr>
              <a:t>s = slope (0.10 = 10% uphill).  </a:t>
            </a:r>
            <a:pPr indent="0" marL="0">
              <a:buNone/>
            </a:pPr>
            <a:r>
              <a:rPr lang="en-US" sz="1400" dirty="0">
                <a:solidFill>
                  <a:schemeClr val="accent4"/>
                </a:solidFill>
              </a:rPr>
              <a:t>Fastest at a gentle downhill: 6 km/h. Flat: 5.0 km/h. 20% climb: 2.5 km/h.</a:t>
            </a:r>
            <a:endParaRPr lang="en-US" sz="1400" dirty="0"/>
          </a:p>
        </p:txBody>
      </p:sp>
      <p:sp>
        <p:nvSpPr>
          <p:cNvPr id="7" name="Problem marker 1"/>
          <p:cNvSpPr/>
          <p:nvPr/>
        </p:nvSpPr>
        <p:spPr>
          <a:xfrm>
            <a:off x="566928" y="3374136"/>
            <a:ext cx="164592" cy="164592"/>
          </a:xfrm>
          <a:prstGeom prst="ellipse">
            <a:avLst/>
          </a:prstGeom>
          <a:solidFill>
            <a:schemeClr val="tx2"/>
          </a:solidFill>
          <a:ln/>
        </p:spPr>
      </p:sp>
      <p:sp>
        <p:nvSpPr>
          <p:cNvPr id="8" name="Problem 1"/>
          <p:cNvSpPr txBox="1"/>
          <p:nvPr/>
        </p:nvSpPr>
        <p:spPr>
          <a:xfrm>
            <a:off x="914400" y="3291840"/>
            <a:ext cx="5120640" cy="658368"/>
          </a:xfrm>
          <a:prstGeom prst="rect">
            <a:avLst/>
          </a:prstGeom>
          <a:noFill/>
          <a:ln/>
        </p:spPr>
        <p:txBody>
          <a:bodyPr wrap="square" lIns="0" tIns="0" rIns="0" bIns="0" rtlCol="0" anchor="t"/>
          <a:lstStyle/>
          <a:p>
            <a:pPr indent="0" marL="0">
              <a:buNone/>
            </a:pPr>
            <a:r>
              <a:rPr lang="en-US" sz="1600" b="1" dirty="0">
                <a:solidFill>
                  <a:schemeClr val="tx2"/>
                </a:solidFill>
              </a:rPr>
              <a:t>Fit to figures in a Swiss cartography textbook</a:t>
            </a:r>
            <a:endParaRPr lang="en-US" sz="1600" dirty="0"/>
          </a:p>
          <a:p>
            <a:pPr indent="0" marL="0">
              <a:buNone/>
            </a:pPr>
            <a:r>
              <a:rPr lang="en-US" sz="1400" dirty="0">
                <a:solidFill>
                  <a:schemeClr val="tx1"/>
                </a:solidFill>
              </a:rPr>
              <a:t>not to observed hikes</a:t>
            </a:r>
            <a:endParaRPr lang="en-US" sz="1600" dirty="0"/>
          </a:p>
        </p:txBody>
      </p:sp>
      <p:sp>
        <p:nvSpPr>
          <p:cNvPr id="9" name="Problem marker 2"/>
          <p:cNvSpPr/>
          <p:nvPr/>
        </p:nvSpPr>
        <p:spPr>
          <a:xfrm>
            <a:off x="566928" y="4087368"/>
            <a:ext cx="164592" cy="164592"/>
          </a:xfrm>
          <a:prstGeom prst="ellipse">
            <a:avLst/>
          </a:prstGeom>
          <a:solidFill>
            <a:schemeClr val="tx2"/>
          </a:solidFill>
          <a:ln/>
        </p:spPr>
      </p:sp>
      <p:sp>
        <p:nvSpPr>
          <p:cNvPr id="10" name="Problem 2"/>
          <p:cNvSpPr txBox="1"/>
          <p:nvPr/>
        </p:nvSpPr>
        <p:spPr>
          <a:xfrm>
            <a:off x="914400" y="4005072"/>
            <a:ext cx="5120640" cy="658368"/>
          </a:xfrm>
          <a:prstGeom prst="rect">
            <a:avLst/>
          </a:prstGeom>
          <a:noFill/>
          <a:ln/>
        </p:spPr>
        <p:txBody>
          <a:bodyPr wrap="square" lIns="0" tIns="0" rIns="0" bIns="0" rtlCol="0" anchor="t"/>
          <a:lstStyle/>
          <a:p>
            <a:pPr indent="0" marL="0">
              <a:buNone/>
            </a:pPr>
            <a:r>
              <a:rPr lang="en-US" sz="1600" b="1" dirty="0">
                <a:solidFill>
                  <a:schemeClr val="tx2"/>
                </a:solidFill>
              </a:rPr>
              <a:t>One curve for every trail</a:t>
            </a:r>
            <a:endParaRPr lang="en-US" sz="1600" dirty="0"/>
          </a:p>
          <a:p>
            <a:pPr indent="0" marL="0">
              <a:buNone/>
            </a:pPr>
            <a:r>
              <a:rPr lang="en-US" sz="1400" dirty="0">
                <a:solidFill>
                  <a:schemeClr val="tx1"/>
                </a:solidFill>
              </a:rPr>
              <a:t>no rocks, roots, steps or vegetation</a:t>
            </a:r>
            <a:endParaRPr lang="en-US" sz="1600" dirty="0"/>
          </a:p>
        </p:txBody>
      </p:sp>
      <p:sp>
        <p:nvSpPr>
          <p:cNvPr id="11" name="Problem marker 3"/>
          <p:cNvSpPr/>
          <p:nvPr/>
        </p:nvSpPr>
        <p:spPr>
          <a:xfrm>
            <a:off x="566928" y="4800600"/>
            <a:ext cx="164592" cy="164592"/>
          </a:xfrm>
          <a:prstGeom prst="ellipse">
            <a:avLst/>
          </a:prstGeom>
          <a:solidFill>
            <a:schemeClr val="tx2"/>
          </a:solidFill>
          <a:ln/>
        </p:spPr>
      </p:sp>
      <p:sp>
        <p:nvSpPr>
          <p:cNvPr id="12" name="Problem 3"/>
          <p:cNvSpPr txBox="1"/>
          <p:nvPr/>
        </p:nvSpPr>
        <p:spPr>
          <a:xfrm>
            <a:off x="914400" y="4718304"/>
            <a:ext cx="5120640" cy="658368"/>
          </a:xfrm>
          <a:prstGeom prst="rect">
            <a:avLst/>
          </a:prstGeom>
          <a:noFill/>
          <a:ln/>
        </p:spPr>
        <p:txBody>
          <a:bodyPr wrap="square" lIns="0" tIns="0" rIns="0" bIns="0" rtlCol="0" anchor="t"/>
          <a:lstStyle/>
          <a:p>
            <a:pPr indent="0" marL="0">
              <a:buNone/>
            </a:pPr>
            <a:r>
              <a:rPr lang="en-US" sz="1600" b="1" dirty="0">
                <a:solidFill>
                  <a:schemeClr val="tx2"/>
                </a:solidFill>
              </a:rPr>
              <a:t>Still the default in GIS travel-time tools</a:t>
            </a:r>
            <a:endParaRPr lang="en-US" sz="1600" dirty="0"/>
          </a:p>
          <a:p>
            <a:pPr indent="0" marL="0">
              <a:buNone/>
            </a:pPr>
            <a:r>
              <a:rPr lang="en-US" sz="1400" dirty="0">
                <a:solidFill>
                  <a:schemeClr val="tx1"/>
                </a:solidFill>
              </a:rPr>
              <a:t>search and rescue, wildfire escape routes, trail apps</a:t>
            </a:r>
            <a:endParaRPr lang="en-US" sz="1600" dirty="0"/>
          </a:p>
        </p:txBody>
      </p:sp>
      <p:sp>
        <p:nvSpPr>
          <p:cNvPr id="13" name="Tag coverage note"/>
          <p:cNvSpPr txBox="1"/>
          <p:nvPr/>
        </p:nvSpPr>
        <p:spPr>
          <a:xfrm>
            <a:off x="548640" y="5440680"/>
            <a:ext cx="5486400" cy="731520"/>
          </a:xfrm>
          <a:prstGeom prst="rect">
            <a:avLst/>
          </a:prstGeom>
          <a:noFill/>
          <a:ln/>
        </p:spPr>
        <p:txBody>
          <a:bodyPr wrap="square" lIns="0" tIns="0" rIns="0" bIns="0" rtlCol="0" anchor="t"/>
          <a:lstStyle/>
          <a:p>
            <a:pPr indent="0" marL="0">
              <a:buNone/>
            </a:pPr>
            <a:r>
              <a:rPr lang="en-US" sz="1600" b="1" dirty="0">
                <a:solidFill>
                  <a:schemeClr val="tx2"/>
                </a:solidFill>
              </a:rPr>
              <a:t>And the map rarely helps: </a:t>
            </a:r>
            <a:pPr indent="0" marL="0">
              <a:buNone/>
            </a:pPr>
            <a:r>
              <a:rPr lang="en-US" sz="1600" dirty="0">
                <a:solidFill>
                  <a:schemeClr val="tx1"/>
                </a:solidFill>
              </a:rPr>
              <a:t>OSM's difficulty tag covers </a:t>
            </a:r>
            <a:pPr indent="0" marL="0">
              <a:buNone/>
            </a:pPr>
            <a:r>
              <a:rPr lang="en-US" sz="1600" b="1" dirty="0">
                <a:solidFill>
                  <a:schemeClr val="accent2"/>
                </a:solidFill>
              </a:rPr>
              <a:t>1.5% to 96%</a:t>
            </a:r>
            <a:pPr indent="0" marL="0">
              <a:buNone/>
            </a:pPr>
            <a:r>
              <a:rPr lang="en-US" sz="1600" dirty="0">
                <a:solidFill>
                  <a:schemeClr val="tx1"/>
                </a:solidFill>
              </a:rPr>
              <a:t> of walked trail, depending on the region.</a:t>
            </a:r>
            <a:endParaRPr lang="en-US" sz="1600" dirty="0"/>
          </a:p>
        </p:txBody>
      </p:sp>
      <p:graphicFrame>
        <p:nvGraphicFramePr>
          <p:cNvPr id="14" name="Tag coverage chart" descr=""/>
          <p:cNvGraphicFramePr/>
          <p:nvPr/>
        </p:nvGraphicFramePr>
        <p:xfrm>
          <a:off x="6446520" y="1234440"/>
          <a:ext cx="5196535" cy="502920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Prior work stays inside one region</a:t>
            </a:r>
            <a:endParaRPr lang="en-US" sz="3400" dirty="0"/>
          </a:p>
        </p:txBody>
      </p:sp>
      <p:sp>
        <p:nvSpPr>
          <p:cNvPr id="3" name="Prior card 1"/>
          <p:cNvSpPr/>
          <p:nvPr/>
        </p:nvSpPr>
        <p:spPr>
          <a:xfrm>
            <a:off x="548640" y="1325880"/>
            <a:ext cx="6126480" cy="859536"/>
          </a:xfrm>
          <a:prstGeom prst="roundRect">
            <a:avLst>
              <a:gd name="adj" fmla="val 10638"/>
            </a:avLst>
          </a:prstGeom>
          <a:solidFill>
            <a:schemeClr val="bg2"/>
          </a:solidFill>
          <a:ln/>
        </p:spPr>
      </p:sp>
      <p:sp>
        <p:nvSpPr>
          <p:cNvPr id="4" name="Prior 1"/>
          <p:cNvSpPr txBox="1"/>
          <p:nvPr/>
        </p:nvSpPr>
        <p:spPr>
          <a:xfrm>
            <a:off x="777240" y="1417320"/>
            <a:ext cx="5715000" cy="731520"/>
          </a:xfrm>
          <a:prstGeom prst="rect">
            <a:avLst/>
          </a:prstGeom>
          <a:noFill/>
          <a:ln/>
        </p:spPr>
        <p:txBody>
          <a:bodyPr wrap="square" lIns="0" tIns="0" rIns="0" bIns="0" rtlCol="0" anchor="t"/>
          <a:lstStyle/>
          <a:p>
            <a:pPr indent="0" marL="0">
              <a:buNone/>
            </a:pPr>
            <a:r>
              <a:rPr lang="en-US" sz="1600" b="1" dirty="0">
                <a:solidFill>
                  <a:schemeClr val="tx2"/>
                </a:solidFill>
              </a:rPr>
              <a:t>Slope-only curves</a:t>
            </a:r>
            <a:endParaRPr lang="en-US" sz="1600" dirty="0"/>
          </a:p>
          <a:p>
            <a:pPr indent="0" marL="0">
              <a:buNone/>
            </a:pPr>
            <a:r>
              <a:rPr lang="en-US" sz="1400" dirty="0">
                <a:solidFill>
                  <a:schemeClr val="tx1"/>
                </a:solidFill>
              </a:rPr>
              <a:t>Tobler 1993; Campbell et al. 2019, 2022 (Strava, AllTrails): Tobler is too fast</a:t>
            </a:r>
            <a:endParaRPr lang="en-US" sz="1600" dirty="0"/>
          </a:p>
        </p:txBody>
      </p:sp>
      <p:sp>
        <p:nvSpPr>
          <p:cNvPr id="5" name="Prior card 2"/>
          <p:cNvSpPr/>
          <p:nvPr/>
        </p:nvSpPr>
        <p:spPr>
          <a:xfrm>
            <a:off x="548640" y="2313432"/>
            <a:ext cx="6126480" cy="859536"/>
          </a:xfrm>
          <a:prstGeom prst="roundRect">
            <a:avLst>
              <a:gd name="adj" fmla="val 10638"/>
            </a:avLst>
          </a:prstGeom>
          <a:solidFill>
            <a:schemeClr val="bg2"/>
          </a:solidFill>
          <a:ln/>
        </p:spPr>
      </p:sp>
      <p:sp>
        <p:nvSpPr>
          <p:cNvPr id="6" name="Prior 2"/>
          <p:cNvSpPr txBox="1"/>
          <p:nvPr/>
        </p:nvSpPr>
        <p:spPr>
          <a:xfrm>
            <a:off x="777240" y="2404872"/>
            <a:ext cx="5715000" cy="731520"/>
          </a:xfrm>
          <a:prstGeom prst="rect">
            <a:avLst/>
          </a:prstGeom>
          <a:noFill/>
          <a:ln/>
        </p:spPr>
        <p:txBody>
          <a:bodyPr wrap="square" lIns="0" tIns="0" rIns="0" bIns="0" rtlCol="0" anchor="t"/>
          <a:lstStyle/>
          <a:p>
            <a:pPr indent="0" marL="0">
              <a:buNone/>
            </a:pPr>
            <a:r>
              <a:rPr lang="en-US" sz="1600" b="1" dirty="0">
                <a:solidFill>
                  <a:schemeClr val="tx2"/>
                </a:solidFill>
              </a:rPr>
              <a:t>Extra inputs, one study area</a:t>
            </a:r>
            <a:endParaRPr lang="en-US" sz="1600" dirty="0"/>
          </a:p>
          <a:p>
            <a:pPr indent="0" marL="0">
              <a:buNone/>
            </a:pPr>
            <a:r>
              <a:rPr lang="en-US" sz="1400" dirty="0">
                <a:solidFill>
                  <a:schemeClr val="tx1"/>
                </a:solidFill>
              </a:rPr>
              <a:t>Wood et al. 2023 (England &amp; Wales, OSM + lidar); Huang et al. 2026 (Hong Kong): random or cross-validated splits</a:t>
            </a:r>
            <a:endParaRPr lang="en-US" sz="1600" dirty="0"/>
          </a:p>
        </p:txBody>
      </p:sp>
      <p:sp>
        <p:nvSpPr>
          <p:cNvPr id="7" name="Prior card 3"/>
          <p:cNvSpPr/>
          <p:nvPr/>
        </p:nvSpPr>
        <p:spPr>
          <a:xfrm>
            <a:off x="548640" y="3300984"/>
            <a:ext cx="6126480" cy="859536"/>
          </a:xfrm>
          <a:prstGeom prst="roundRect">
            <a:avLst>
              <a:gd name="adj" fmla="val 10638"/>
            </a:avLst>
          </a:prstGeom>
          <a:solidFill>
            <a:schemeClr val="bg2"/>
          </a:solidFill>
          <a:ln/>
        </p:spPr>
      </p:sp>
      <p:sp>
        <p:nvSpPr>
          <p:cNvPr id="8" name="Prior 3"/>
          <p:cNvSpPr txBox="1"/>
          <p:nvPr/>
        </p:nvSpPr>
        <p:spPr>
          <a:xfrm>
            <a:off x="777240" y="3392424"/>
            <a:ext cx="5715000" cy="731520"/>
          </a:xfrm>
          <a:prstGeom prst="rect">
            <a:avLst/>
          </a:prstGeom>
          <a:noFill/>
          <a:ln/>
        </p:spPr>
        <p:txBody>
          <a:bodyPr wrap="square" lIns="0" tIns="0" rIns="0" bIns="0" rtlCol="0" anchor="t"/>
          <a:lstStyle/>
          <a:p>
            <a:pPr indent="0" marL="0">
              <a:buNone/>
            </a:pPr>
            <a:r>
              <a:rPr lang="en-US" sz="1600" b="1" dirty="0">
                <a:solidFill>
                  <a:schemeClr val="tx2"/>
                </a:solidFill>
              </a:rPr>
              <a:t>Lidar model from field walks</a:t>
            </a:r>
            <a:endParaRPr lang="en-US" sz="1600" dirty="0"/>
          </a:p>
          <a:p>
            <a:pPr indent="0" marL="0">
              <a:buNone/>
            </a:pPr>
            <a:r>
              <a:rPr lang="en-US" sz="1400" dirty="0">
                <a:solidFill>
                  <a:schemeClr val="tx1"/>
                </a:solidFill>
              </a:rPr>
              <a:t>STRIDE, Campbell et al. 2024: slope, understory density, ground roughness</a:t>
            </a:r>
            <a:endParaRPr lang="en-US" sz="1600" dirty="0"/>
          </a:p>
        </p:txBody>
      </p:sp>
      <p:sp>
        <p:nvSpPr>
          <p:cNvPr id="9" name="Prior card 4"/>
          <p:cNvSpPr/>
          <p:nvPr/>
        </p:nvSpPr>
        <p:spPr>
          <a:xfrm>
            <a:off x="548640" y="4288536"/>
            <a:ext cx="6126480" cy="859536"/>
          </a:xfrm>
          <a:prstGeom prst="roundRect">
            <a:avLst>
              <a:gd name="adj" fmla="val 10638"/>
            </a:avLst>
          </a:prstGeom>
          <a:solidFill>
            <a:schemeClr val="bg2"/>
          </a:solidFill>
          <a:ln/>
        </p:spPr>
      </p:sp>
      <p:sp>
        <p:nvSpPr>
          <p:cNvPr id="10" name="Prior 4"/>
          <p:cNvSpPr txBox="1"/>
          <p:nvPr/>
        </p:nvSpPr>
        <p:spPr>
          <a:xfrm>
            <a:off x="777240" y="4379976"/>
            <a:ext cx="5715000" cy="731520"/>
          </a:xfrm>
          <a:prstGeom prst="rect">
            <a:avLst/>
          </a:prstGeom>
          <a:noFill/>
          <a:ln/>
        </p:spPr>
        <p:txBody>
          <a:bodyPr wrap="square" lIns="0" tIns="0" rIns="0" bIns="0" rtlCol="0" anchor="t"/>
          <a:lstStyle/>
          <a:p>
            <a:pPr indent="0" marL="0">
              <a:buNone/>
            </a:pPr>
            <a:r>
              <a:rPr lang="en-US" sz="1600" b="1" dirty="0">
                <a:solidFill>
                  <a:schemeClr val="tx2"/>
                </a:solidFill>
              </a:rPr>
              <a:t>This lab</a:t>
            </a:r>
            <a:endParaRPr lang="en-US" sz="1600" dirty="0"/>
          </a:p>
          <a:p>
            <a:pPr indent="0" marL="0">
              <a:buNone/>
            </a:pPr>
            <a:r>
              <a:rPr lang="en-US" sz="1400" dirty="0">
                <a:solidFill>
                  <a:schemeClr val="tx1"/>
                </a:solidFill>
              </a:rPr>
              <a:t>RasterNet, Hadzic et al. 2020: road speed from lidar and overhead imagery</a:t>
            </a:r>
            <a:endParaRPr lang="en-US" sz="1600" dirty="0"/>
          </a:p>
        </p:txBody>
      </p:sp>
      <p:sp>
        <p:nvSpPr>
          <p:cNvPr id="11" name="Gap"/>
          <p:cNvSpPr txBox="1"/>
          <p:nvPr/>
        </p:nvSpPr>
        <p:spPr>
          <a:xfrm>
            <a:off x="548640" y="5394960"/>
            <a:ext cx="6126480" cy="685800"/>
          </a:xfrm>
          <a:prstGeom prst="rect">
            <a:avLst/>
          </a:prstGeom>
          <a:noFill/>
          <a:ln/>
        </p:spPr>
        <p:txBody>
          <a:bodyPr wrap="square" lIns="0" tIns="0" rIns="0" bIns="0" rtlCol="0" anchor="t"/>
          <a:lstStyle/>
          <a:p>
            <a:pPr indent="0" marL="0">
              <a:buNone/>
            </a:pPr>
            <a:r>
              <a:rPr lang="en-US" sz="1600" b="1" dirty="0">
                <a:solidFill>
                  <a:schemeClr val="accent2"/>
                </a:solidFill>
              </a:rPr>
              <a:t>Missing: </a:t>
            </a:r>
            <a:pPr indent="0" marL="0">
              <a:buNone/>
            </a:pPr>
            <a:r>
              <a:rPr lang="en-US" sz="1600" dirty="0">
                <a:solidFill>
                  <a:schemeClr val="tx1"/>
                </a:solidFill>
              </a:rPr>
              <a:t>a test in regions the model never saw, and map tags vs remote sensing head to head.</a:t>
            </a:r>
            <a:endParaRPr lang="en-US" sz="1600" dirty="0"/>
          </a:p>
        </p:txBody>
      </p:sp>
      <p:sp>
        <p:nvSpPr>
          <p:cNvPr id="12" name="Goal card"/>
          <p:cNvSpPr/>
          <p:nvPr/>
        </p:nvSpPr>
        <p:spPr>
          <a:xfrm>
            <a:off x="6995160" y="1325880"/>
            <a:ext cx="4647895" cy="4800600"/>
          </a:xfrm>
          <a:prstGeom prst="roundRect">
            <a:avLst>
              <a:gd name="adj" fmla="val 1967"/>
            </a:avLst>
          </a:prstGeom>
          <a:solidFill>
            <a:schemeClr val="tx2"/>
          </a:solidFill>
          <a:ln/>
        </p:spPr>
      </p:sp>
      <p:sp>
        <p:nvSpPr>
          <p:cNvPr id="13" name="Goal label"/>
          <p:cNvSpPr txBox="1"/>
          <p:nvPr/>
        </p:nvSpPr>
        <p:spPr>
          <a:xfrm>
            <a:off x="7269480" y="1554480"/>
            <a:ext cx="4099255"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OUR GOAL</a:t>
            </a:r>
            <a:endParaRPr lang="en-US" sz="1200" dirty="0"/>
          </a:p>
        </p:txBody>
      </p:sp>
      <p:sp>
        <p:nvSpPr>
          <p:cNvPr id="14" name="Goal"/>
          <p:cNvSpPr txBox="1"/>
          <p:nvPr/>
        </p:nvSpPr>
        <p:spPr>
          <a:xfrm>
            <a:off x="7269480" y="1874520"/>
            <a:ext cx="4099255" cy="1737360"/>
          </a:xfrm>
          <a:prstGeom prst="rect">
            <a:avLst/>
          </a:prstGeom>
          <a:noFill/>
          <a:ln/>
        </p:spPr>
        <p:txBody>
          <a:bodyPr wrap="square" lIns="0" tIns="0" rIns="0" bIns="0" rtlCol="0" anchor="t"/>
          <a:lstStyle/>
          <a:p>
            <a:pPr indent="0" marL="0">
              <a:buNone/>
            </a:pPr>
            <a:r>
              <a:rPr lang="en-US" sz="2000" dirty="0">
                <a:solidFill>
                  <a:schemeClr val="bg1"/>
                </a:solidFill>
                <a:latin typeface="+mj-lt" pitchFamily="34" charset="0"/>
                <a:ea typeface="+mj-lt" pitchFamily="34" charset="-122"/>
                <a:cs typeface="+mj-lt" pitchFamily="34" charset="-120"/>
              </a:rPr>
              <a:t>Predict the speed of every 50 m of trail, with its uncertainty, from what can be seen from above. Test it on regions the model never saw: train on 16, test on the 17th.</a:t>
            </a:r>
            <a:endParaRPr lang="en-US" sz="2000" dirty="0"/>
          </a:p>
        </p:txBody>
      </p:sp>
      <p:sp>
        <p:nvSpPr>
          <p:cNvPr id="15" name="Arms label"/>
          <p:cNvSpPr txBox="1"/>
          <p:nvPr/>
        </p:nvSpPr>
        <p:spPr>
          <a:xfrm>
            <a:off x="7269480" y="3657600"/>
            <a:ext cx="4099255" cy="320040"/>
          </a:xfrm>
          <a:prstGeom prst="rect">
            <a:avLst/>
          </a:prstGeom>
          <a:noFill/>
          <a:ln/>
        </p:spPr>
        <p:txBody>
          <a:bodyPr wrap="square" lIns="0" tIns="0" rIns="0" bIns="0" rtlCol="0" anchor="t"/>
          <a:lstStyle/>
          <a:p>
            <a:pPr indent="0" marL="0">
              <a:buNone/>
            </a:pPr>
            <a:r>
              <a:rPr lang="en-US" sz="1400" dirty="0">
                <a:solidFill>
                  <a:schemeClr val="accent5"/>
                </a:solidFill>
              </a:rPr>
              <a:t>Four models, same method, different inputs</a:t>
            </a:r>
            <a:endParaRPr lang="en-US" sz="1400" dirty="0"/>
          </a:p>
        </p:txBody>
      </p:sp>
      <p:sp>
        <p:nvSpPr>
          <p:cNvPr id="16" name="Arm Tobler"/>
          <p:cNvSpPr/>
          <p:nvPr/>
        </p:nvSpPr>
        <p:spPr>
          <a:xfrm>
            <a:off x="7269480" y="4069080"/>
            <a:ext cx="1958188" cy="822960"/>
          </a:xfrm>
          <a:prstGeom prst="roundRect">
            <a:avLst>
              <a:gd name="adj" fmla="val 11111"/>
            </a:avLst>
          </a:prstGeom>
          <a:solidFill>
            <a:schemeClr val="accent4"/>
          </a:solidFill>
          <a:ln/>
        </p:spPr>
      </p:sp>
      <p:sp>
        <p:nvSpPr>
          <p:cNvPr id="17" name="Arm Tobler text"/>
          <p:cNvSpPr txBox="1"/>
          <p:nvPr/>
        </p:nvSpPr>
        <p:spPr>
          <a:xfrm>
            <a:off x="7406640" y="4160520"/>
            <a:ext cx="1683868" cy="685800"/>
          </a:xfrm>
          <a:prstGeom prst="rect">
            <a:avLst/>
          </a:prstGeom>
          <a:noFill/>
          <a:ln/>
        </p:spPr>
        <p:txBody>
          <a:bodyPr wrap="square" lIns="0" tIns="0" rIns="0" bIns="0" rtlCol="0" anchor="t"/>
          <a:lstStyle/>
          <a:p>
            <a:pPr indent="0" marL="0">
              <a:buNone/>
            </a:pPr>
            <a:r>
              <a:rPr lang="en-US" sz="1500" b="1" dirty="0">
                <a:solidFill>
                  <a:schemeClr val="bg1"/>
                </a:solidFill>
              </a:rPr>
              <a:t>Tobler</a:t>
            </a:r>
            <a:endParaRPr lang="en-US" sz="1500" dirty="0"/>
          </a:p>
          <a:p>
            <a:pPr indent="0" marL="0">
              <a:buNone/>
            </a:pPr>
            <a:r>
              <a:rPr lang="en-US" sz="1200" dirty="0">
                <a:solidFill>
                  <a:schemeClr val="bg1"/>
                </a:solidFill>
              </a:rPr>
              <a:t>slope only</a:t>
            </a:r>
            <a:endParaRPr lang="en-US" sz="1500" dirty="0"/>
          </a:p>
        </p:txBody>
      </p:sp>
      <p:sp>
        <p:nvSpPr>
          <p:cNvPr id="18" name="Arm Tags"/>
          <p:cNvSpPr/>
          <p:nvPr/>
        </p:nvSpPr>
        <p:spPr>
          <a:xfrm>
            <a:off x="9410548" y="4069080"/>
            <a:ext cx="1958188" cy="822960"/>
          </a:xfrm>
          <a:prstGeom prst="roundRect">
            <a:avLst>
              <a:gd name="adj" fmla="val 11111"/>
            </a:avLst>
          </a:prstGeom>
          <a:solidFill>
            <a:schemeClr val="accent2"/>
          </a:solidFill>
          <a:ln/>
        </p:spPr>
      </p:sp>
      <p:sp>
        <p:nvSpPr>
          <p:cNvPr id="19" name="Arm Tags text"/>
          <p:cNvSpPr txBox="1"/>
          <p:nvPr/>
        </p:nvSpPr>
        <p:spPr>
          <a:xfrm>
            <a:off x="9547708" y="4160520"/>
            <a:ext cx="1683868" cy="685800"/>
          </a:xfrm>
          <a:prstGeom prst="rect">
            <a:avLst/>
          </a:prstGeom>
          <a:noFill/>
          <a:ln/>
        </p:spPr>
        <p:txBody>
          <a:bodyPr wrap="square" lIns="0" tIns="0" rIns="0" bIns="0" rtlCol="0" anchor="t"/>
          <a:lstStyle/>
          <a:p>
            <a:pPr indent="0" marL="0">
              <a:buNone/>
            </a:pPr>
            <a:r>
              <a:rPr lang="en-US" sz="1500" b="1" dirty="0">
                <a:solidFill>
                  <a:schemeClr val="bg1"/>
                </a:solidFill>
              </a:rPr>
              <a:t>Tags</a:t>
            </a:r>
            <a:endParaRPr lang="en-US" sz="1500" dirty="0"/>
          </a:p>
          <a:p>
            <a:pPr indent="0" marL="0">
              <a:buNone/>
            </a:pPr>
            <a:r>
              <a:rPr lang="en-US" sz="1200" dirty="0">
                <a:solidFill>
                  <a:schemeClr val="bg1"/>
                </a:solidFill>
              </a:rPr>
              <a:t>OSM trail tags</a:t>
            </a:r>
            <a:endParaRPr lang="en-US" sz="1500" dirty="0"/>
          </a:p>
        </p:txBody>
      </p:sp>
      <p:sp>
        <p:nvSpPr>
          <p:cNvPr id="20" name="Arm Remote sensing"/>
          <p:cNvSpPr/>
          <p:nvPr/>
        </p:nvSpPr>
        <p:spPr>
          <a:xfrm>
            <a:off x="7269480" y="5029200"/>
            <a:ext cx="1958188" cy="822960"/>
          </a:xfrm>
          <a:prstGeom prst="roundRect">
            <a:avLst>
              <a:gd name="adj" fmla="val 11111"/>
            </a:avLst>
          </a:prstGeom>
          <a:solidFill>
            <a:schemeClr val="accent1"/>
          </a:solidFill>
          <a:ln/>
        </p:spPr>
      </p:sp>
      <p:sp>
        <p:nvSpPr>
          <p:cNvPr id="21" name="Arm Remote sensing text"/>
          <p:cNvSpPr txBox="1"/>
          <p:nvPr/>
        </p:nvSpPr>
        <p:spPr>
          <a:xfrm>
            <a:off x="7406640" y="5120640"/>
            <a:ext cx="1683868" cy="685800"/>
          </a:xfrm>
          <a:prstGeom prst="rect">
            <a:avLst/>
          </a:prstGeom>
          <a:noFill/>
          <a:ln/>
        </p:spPr>
        <p:txBody>
          <a:bodyPr wrap="square" lIns="0" tIns="0" rIns="0" bIns="0" rtlCol="0" anchor="t"/>
          <a:lstStyle/>
          <a:p>
            <a:pPr indent="0" marL="0">
              <a:buNone/>
            </a:pPr>
            <a:r>
              <a:rPr lang="en-US" sz="1500" b="1" dirty="0">
                <a:solidFill>
                  <a:schemeClr val="bg1"/>
                </a:solidFill>
              </a:rPr>
              <a:t>Remote sensing</a:t>
            </a:r>
            <a:endParaRPr lang="en-US" sz="1500" dirty="0"/>
          </a:p>
          <a:p>
            <a:pPr indent="0" marL="0">
              <a:buNone/>
            </a:pPr>
            <a:r>
              <a:rPr lang="en-US" sz="1200" dirty="0">
                <a:solidFill>
                  <a:schemeClr val="bg1"/>
                </a:solidFill>
              </a:rPr>
              <a:t>lidar terrain, vegetation, embeddings</a:t>
            </a:r>
            <a:endParaRPr lang="en-US" sz="1500" dirty="0"/>
          </a:p>
        </p:txBody>
      </p:sp>
      <p:sp>
        <p:nvSpPr>
          <p:cNvPr id="22" name="Arm Both"/>
          <p:cNvSpPr/>
          <p:nvPr/>
        </p:nvSpPr>
        <p:spPr>
          <a:xfrm>
            <a:off x="9410548" y="5029200"/>
            <a:ext cx="1958188" cy="822960"/>
          </a:xfrm>
          <a:prstGeom prst="roundRect">
            <a:avLst>
              <a:gd name="adj" fmla="val 11111"/>
            </a:avLst>
          </a:prstGeom>
          <a:solidFill>
            <a:schemeClr val="accent3"/>
          </a:solidFill>
          <a:ln/>
        </p:spPr>
      </p:sp>
      <p:sp>
        <p:nvSpPr>
          <p:cNvPr id="23" name="Arm Both text"/>
          <p:cNvSpPr txBox="1"/>
          <p:nvPr/>
        </p:nvSpPr>
        <p:spPr>
          <a:xfrm>
            <a:off x="9547708" y="5120640"/>
            <a:ext cx="1683868" cy="685800"/>
          </a:xfrm>
          <a:prstGeom prst="rect">
            <a:avLst/>
          </a:prstGeom>
          <a:noFill/>
          <a:ln/>
        </p:spPr>
        <p:txBody>
          <a:bodyPr wrap="square" lIns="0" tIns="0" rIns="0" bIns="0" rtlCol="0" anchor="t"/>
          <a:lstStyle/>
          <a:p>
            <a:pPr indent="0" marL="0">
              <a:buNone/>
            </a:pPr>
            <a:r>
              <a:rPr lang="en-US" sz="1500" b="1" dirty="0">
                <a:solidFill>
                  <a:schemeClr val="bg1"/>
                </a:solidFill>
              </a:rPr>
              <a:t>Both</a:t>
            </a:r>
            <a:endParaRPr lang="en-US" sz="1500" dirty="0"/>
          </a:p>
          <a:p>
            <a:pPr indent="0" marL="0">
              <a:buNone/>
            </a:pPr>
            <a:r>
              <a:rPr lang="en-US" sz="1200" dirty="0">
                <a:solidFill>
                  <a:schemeClr val="bg1"/>
                </a:solidFill>
              </a:rPr>
              <a:t>everything</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17 regions, 290,640 measured trail segments</a:t>
            </a:r>
            <a:endParaRPr lang="en-US" sz="3400" dirty="0"/>
          </a:p>
        </p:txBody>
      </p:sp>
      <p:pic>
        <p:nvPicPr>
          <p:cNvPr id="3" name="Map of the 17 regions" descr="/Users/brian/Desktop/GeoAI/paper/figures/fig_map.png">    </p:cNvPr>
          <p:cNvPicPr>
            <a:picLocks noChangeAspect="1"/>
          </p:cNvPicPr>
          <p:nvPr/>
        </p:nvPicPr>
        <p:blipFill>
          <a:blip r:embed="rId1"/>
          <a:stretch>
            <a:fillRect/>
          </a:stretch>
        </p:blipFill>
        <p:spPr>
          <a:xfrm>
            <a:off x="548640" y="1280160"/>
            <a:ext cx="6400800" cy="3304491"/>
          </a:xfrm>
          <a:prstGeom prst="rect">
            <a:avLst/>
          </a:prstGeom>
        </p:spPr>
      </p:pic>
      <p:sp>
        <p:nvSpPr>
          <p:cNvPr id="4" name="Map caption"/>
          <p:cNvSpPr txBox="1"/>
          <p:nvPr/>
        </p:nvSpPr>
        <p:spPr>
          <a:xfrm>
            <a:off x="548640" y="4645152"/>
            <a:ext cx="6400800" cy="411480"/>
          </a:xfrm>
          <a:prstGeom prst="rect">
            <a:avLst/>
          </a:prstGeom>
          <a:noFill/>
          <a:ln/>
        </p:spPr>
        <p:txBody>
          <a:bodyPr wrap="square" lIns="0" tIns="0" rIns="0" bIns="0" rtlCol="0" anchor="t"/>
          <a:lstStyle/>
          <a:p>
            <a:pPr indent="0" marL="0">
              <a:buNone/>
            </a:pPr>
            <a:r>
              <a:rPr lang="en-US" sz="1100" dirty="0">
                <a:solidFill>
                  <a:schemeClr val="accent4"/>
                </a:solidFill>
              </a:rPr>
              <a:t>Circle area = walking hours. Blue: full OSM download plus the lab's crawl; orange: crawl only. Inset: White Mountains segments by speed.</a:t>
            </a:r>
            <a:endParaRPr lang="en-US" sz="1100" dirty="0"/>
          </a:p>
        </p:txBody>
      </p:sp>
      <p:sp>
        <p:nvSpPr>
          <p:cNvPr id="5" name="Data stat 1 value"/>
          <p:cNvSpPr txBox="1"/>
          <p:nvPr/>
        </p:nvSpPr>
        <p:spPr>
          <a:xfrm>
            <a:off x="7269480" y="13716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290,640</a:t>
            </a:r>
            <a:endParaRPr lang="en-US" sz="3600" dirty="0"/>
          </a:p>
        </p:txBody>
      </p:sp>
      <p:sp>
        <p:nvSpPr>
          <p:cNvPr id="6" name="Data stat 1 label"/>
          <p:cNvSpPr txBox="1"/>
          <p:nvPr/>
        </p:nvSpPr>
        <p:spPr>
          <a:xfrm>
            <a:off x="7269480" y="2011680"/>
            <a:ext cx="2103120" cy="457200"/>
          </a:xfrm>
          <a:prstGeom prst="rect">
            <a:avLst/>
          </a:prstGeom>
          <a:noFill/>
          <a:ln/>
        </p:spPr>
        <p:txBody>
          <a:bodyPr wrap="square" lIns="0" tIns="0" rIns="0" bIns="0" rtlCol="0" anchor="t"/>
          <a:lstStyle/>
          <a:p>
            <a:pPr indent="0" marL="0">
              <a:buNone/>
            </a:pPr>
            <a:r>
              <a:rPr lang="en-US" sz="1500" dirty="0">
                <a:solidFill>
                  <a:schemeClr val="tx1"/>
                </a:solidFill>
              </a:rPr>
              <a:t>walking segments, 50 m each</a:t>
            </a:r>
            <a:endParaRPr lang="en-US" sz="1500" dirty="0"/>
          </a:p>
        </p:txBody>
      </p:sp>
      <p:sp>
        <p:nvSpPr>
          <p:cNvPr id="7" name="Data stat 2 value"/>
          <p:cNvSpPr txBox="1"/>
          <p:nvPr/>
        </p:nvSpPr>
        <p:spPr>
          <a:xfrm>
            <a:off x="9601200" y="13716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1,992</a:t>
            </a:r>
            <a:endParaRPr lang="en-US" sz="3600" dirty="0"/>
          </a:p>
        </p:txBody>
      </p:sp>
      <p:sp>
        <p:nvSpPr>
          <p:cNvPr id="8" name="Data stat 2 label"/>
          <p:cNvSpPr txBox="1"/>
          <p:nvPr/>
        </p:nvSpPr>
        <p:spPr>
          <a:xfrm>
            <a:off x="9601200" y="2011680"/>
            <a:ext cx="2103120" cy="457200"/>
          </a:xfrm>
          <a:prstGeom prst="rect">
            <a:avLst/>
          </a:prstGeom>
          <a:noFill/>
          <a:ln/>
        </p:spPr>
        <p:txBody>
          <a:bodyPr wrap="square" lIns="0" tIns="0" rIns="0" bIns="0" rtlCol="0" anchor="t"/>
          <a:lstStyle/>
          <a:p>
            <a:pPr indent="0" marL="0">
              <a:buNone/>
            </a:pPr>
            <a:r>
              <a:rPr lang="en-US" sz="1500" dirty="0">
                <a:solidFill>
                  <a:schemeClr val="tx1"/>
                </a:solidFill>
              </a:rPr>
              <a:t>hikes</a:t>
            </a:r>
            <a:endParaRPr lang="en-US" sz="1500" dirty="0"/>
          </a:p>
        </p:txBody>
      </p:sp>
      <p:sp>
        <p:nvSpPr>
          <p:cNvPr id="9" name="Data stat 3 value"/>
          <p:cNvSpPr txBox="1"/>
          <p:nvPr/>
        </p:nvSpPr>
        <p:spPr>
          <a:xfrm>
            <a:off x="7269480" y="29718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4,702</a:t>
            </a:r>
            <a:pPr indent="0" marL="0">
              <a:buNone/>
            </a:pPr>
            <a:r>
              <a:rPr lang="en-US" sz="2000" b="1" dirty="0">
                <a:solidFill>
                  <a:schemeClr val="tx2"/>
                </a:solidFill>
                <a:latin typeface="+mj-lt" pitchFamily="34" charset="0"/>
                <a:ea typeface="+mj-lt" pitchFamily="34" charset="-122"/>
                <a:cs typeface="+mj-lt" pitchFamily="34" charset="-120"/>
              </a:rPr>
              <a:t> h</a:t>
            </a:r>
            <a:endParaRPr lang="en-US" sz="3600" dirty="0"/>
          </a:p>
        </p:txBody>
      </p:sp>
      <p:sp>
        <p:nvSpPr>
          <p:cNvPr id="10" name="Data stat 3 label"/>
          <p:cNvSpPr txBox="1"/>
          <p:nvPr/>
        </p:nvSpPr>
        <p:spPr>
          <a:xfrm>
            <a:off x="7269480" y="3611880"/>
            <a:ext cx="2103120" cy="457200"/>
          </a:xfrm>
          <a:prstGeom prst="rect">
            <a:avLst/>
          </a:prstGeom>
          <a:noFill/>
          <a:ln/>
        </p:spPr>
        <p:txBody>
          <a:bodyPr wrap="square" lIns="0" tIns="0" rIns="0" bIns="0" rtlCol="0" anchor="t"/>
          <a:lstStyle/>
          <a:p>
            <a:pPr indent="0" marL="0">
              <a:buNone/>
            </a:pPr>
            <a:r>
              <a:rPr lang="en-US" sz="1500" dirty="0">
                <a:solidFill>
                  <a:schemeClr val="tx1"/>
                </a:solidFill>
              </a:rPr>
              <a:t>of walking</a:t>
            </a:r>
            <a:endParaRPr lang="en-US" sz="1500" dirty="0"/>
          </a:p>
        </p:txBody>
      </p:sp>
      <p:sp>
        <p:nvSpPr>
          <p:cNvPr id="11" name="Data stat 4 value"/>
          <p:cNvSpPr txBox="1"/>
          <p:nvPr/>
        </p:nvSpPr>
        <p:spPr>
          <a:xfrm>
            <a:off x="9601200" y="29718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14,532</a:t>
            </a:r>
            <a:pPr indent="0" marL="0">
              <a:buNone/>
            </a:pPr>
            <a:r>
              <a:rPr lang="en-US" sz="2000" b="1" dirty="0">
                <a:solidFill>
                  <a:schemeClr val="tx2"/>
                </a:solidFill>
                <a:latin typeface="+mj-lt" pitchFamily="34" charset="0"/>
                <a:ea typeface="+mj-lt" pitchFamily="34" charset="-122"/>
                <a:cs typeface="+mj-lt" pitchFamily="34" charset="-120"/>
              </a:rPr>
              <a:t> km</a:t>
            </a:r>
            <a:endParaRPr lang="en-US" sz="3600" dirty="0"/>
          </a:p>
        </p:txBody>
      </p:sp>
      <p:sp>
        <p:nvSpPr>
          <p:cNvPr id="12" name="Data stat 4 label"/>
          <p:cNvSpPr txBox="1"/>
          <p:nvPr/>
        </p:nvSpPr>
        <p:spPr>
          <a:xfrm>
            <a:off x="9601200" y="3611880"/>
            <a:ext cx="2103120" cy="457200"/>
          </a:xfrm>
          <a:prstGeom prst="rect">
            <a:avLst/>
          </a:prstGeom>
          <a:noFill/>
          <a:ln/>
        </p:spPr>
        <p:txBody>
          <a:bodyPr wrap="square" lIns="0" tIns="0" rIns="0" bIns="0" rtlCol="0" anchor="t"/>
          <a:lstStyle/>
          <a:p>
            <a:pPr indent="0" marL="0">
              <a:buNone/>
            </a:pPr>
            <a:r>
              <a:rPr lang="en-US" sz="1500" dirty="0">
                <a:solidFill>
                  <a:schemeClr val="tx1"/>
                </a:solidFill>
              </a:rPr>
              <a:t>of trail walked</a:t>
            </a:r>
            <a:endParaRPr lang="en-US" sz="1500" dirty="0"/>
          </a:p>
        </p:txBody>
      </p:sp>
      <p:sp>
        <p:nvSpPr>
          <p:cNvPr id="13" name="Pipeline step 1"/>
          <p:cNvSpPr/>
          <p:nvPr/>
        </p:nvSpPr>
        <p:spPr>
          <a:xfrm>
            <a:off x="548640" y="5257800"/>
            <a:ext cx="1828800" cy="868680"/>
          </a:xfrm>
          <a:prstGeom prst="roundRect">
            <a:avLst>
              <a:gd name="adj" fmla="val 10526"/>
            </a:avLst>
          </a:prstGeom>
          <a:solidFill>
            <a:schemeClr val="bg2"/>
          </a:solidFill>
          <a:ln/>
        </p:spPr>
      </p:sp>
      <p:sp>
        <p:nvSpPr>
          <p:cNvPr id="14" name="Pipeline step 1 text"/>
          <p:cNvSpPr txBox="1"/>
          <p:nvPr/>
        </p:nvSpPr>
        <p:spPr>
          <a:xfrm>
            <a:off x="685800"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Public OSM GPS traces</a:t>
            </a:r>
            <a:endParaRPr lang="en-US" sz="1400" dirty="0"/>
          </a:p>
        </p:txBody>
      </p:sp>
      <p:sp>
        <p:nvSpPr>
          <p:cNvPr id="15" name="Pipeline arrow 1"/>
          <p:cNvSpPr/>
          <p:nvPr/>
        </p:nvSpPr>
        <p:spPr>
          <a:xfrm>
            <a:off x="2423160" y="5577840"/>
            <a:ext cx="164592" cy="228600"/>
          </a:xfrm>
          <a:prstGeom prst="rightArrow">
            <a:avLst/>
          </a:prstGeom>
          <a:solidFill>
            <a:schemeClr val="accent3"/>
          </a:solidFill>
          <a:ln/>
        </p:spPr>
      </p:sp>
      <p:sp>
        <p:nvSpPr>
          <p:cNvPr id="16" name="Pipeline step 2"/>
          <p:cNvSpPr/>
          <p:nvPr/>
        </p:nvSpPr>
        <p:spPr>
          <a:xfrm>
            <a:off x="2633472" y="5257800"/>
            <a:ext cx="1828800" cy="868680"/>
          </a:xfrm>
          <a:prstGeom prst="roundRect">
            <a:avLst>
              <a:gd name="adj" fmla="val 10526"/>
            </a:avLst>
          </a:prstGeom>
          <a:solidFill>
            <a:schemeClr val="bg2"/>
          </a:solidFill>
          <a:ln/>
        </p:spPr>
      </p:sp>
      <p:sp>
        <p:nvSpPr>
          <p:cNvPr id="17" name="Pipeline step 2 text"/>
          <p:cNvSpPr txBox="1"/>
          <p:nvPr/>
        </p:nvSpPr>
        <p:spPr>
          <a:xfrm>
            <a:off x="2770632"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Clean and remove stops</a:t>
            </a:r>
            <a:endParaRPr lang="en-US" sz="1400" dirty="0"/>
          </a:p>
        </p:txBody>
      </p:sp>
      <p:sp>
        <p:nvSpPr>
          <p:cNvPr id="18" name="Pipeline arrow 2"/>
          <p:cNvSpPr/>
          <p:nvPr/>
        </p:nvSpPr>
        <p:spPr>
          <a:xfrm>
            <a:off x="4507992" y="5577840"/>
            <a:ext cx="164592" cy="228600"/>
          </a:xfrm>
          <a:prstGeom prst="rightArrow">
            <a:avLst/>
          </a:prstGeom>
          <a:solidFill>
            <a:schemeClr val="accent3"/>
          </a:solidFill>
          <a:ln/>
        </p:spPr>
      </p:sp>
      <p:sp>
        <p:nvSpPr>
          <p:cNvPr id="19" name="Pipeline step 3"/>
          <p:cNvSpPr/>
          <p:nvPr/>
        </p:nvSpPr>
        <p:spPr>
          <a:xfrm>
            <a:off x="4718304" y="5257800"/>
            <a:ext cx="1828800" cy="868680"/>
          </a:xfrm>
          <a:prstGeom prst="roundRect">
            <a:avLst>
              <a:gd name="adj" fmla="val 10526"/>
            </a:avLst>
          </a:prstGeom>
          <a:solidFill>
            <a:schemeClr val="bg2"/>
          </a:solidFill>
          <a:ln/>
        </p:spPr>
      </p:sp>
      <p:sp>
        <p:nvSpPr>
          <p:cNvPr id="20" name="Pipeline step 3 text"/>
          <p:cNvSpPr txBox="1"/>
          <p:nvPr/>
        </p:nvSpPr>
        <p:spPr>
          <a:xfrm>
            <a:off x="4855464"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Match to the trail map</a:t>
            </a:r>
            <a:endParaRPr lang="en-US" sz="1400" dirty="0"/>
          </a:p>
        </p:txBody>
      </p:sp>
      <p:sp>
        <p:nvSpPr>
          <p:cNvPr id="21" name="Pipeline arrow 3"/>
          <p:cNvSpPr/>
          <p:nvPr/>
        </p:nvSpPr>
        <p:spPr>
          <a:xfrm>
            <a:off x="6592824" y="5577840"/>
            <a:ext cx="164592" cy="228600"/>
          </a:xfrm>
          <a:prstGeom prst="rightArrow">
            <a:avLst/>
          </a:prstGeom>
          <a:solidFill>
            <a:schemeClr val="accent3"/>
          </a:solidFill>
          <a:ln/>
        </p:spPr>
      </p:sp>
      <p:sp>
        <p:nvSpPr>
          <p:cNvPr id="22" name="Pipeline step 4"/>
          <p:cNvSpPr/>
          <p:nvPr/>
        </p:nvSpPr>
        <p:spPr>
          <a:xfrm>
            <a:off x="6803136" y="5257800"/>
            <a:ext cx="1828800" cy="868680"/>
          </a:xfrm>
          <a:prstGeom prst="roundRect">
            <a:avLst>
              <a:gd name="adj" fmla="val 10526"/>
            </a:avLst>
          </a:prstGeom>
          <a:solidFill>
            <a:schemeClr val="bg2"/>
          </a:solidFill>
          <a:ln/>
        </p:spPr>
      </p:sp>
      <p:sp>
        <p:nvSpPr>
          <p:cNvPr id="23" name="Pipeline step 4 text"/>
          <p:cNvSpPr txBox="1"/>
          <p:nvPr/>
        </p:nvSpPr>
        <p:spPr>
          <a:xfrm>
            <a:off x="6940296"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Cut into 50 m segments</a:t>
            </a:r>
            <a:endParaRPr lang="en-US" sz="1400" dirty="0"/>
          </a:p>
        </p:txBody>
      </p:sp>
      <p:sp>
        <p:nvSpPr>
          <p:cNvPr id="24" name="Pipeline arrow 4"/>
          <p:cNvSpPr/>
          <p:nvPr/>
        </p:nvSpPr>
        <p:spPr>
          <a:xfrm>
            <a:off x="8677656" y="5577840"/>
            <a:ext cx="164592" cy="228600"/>
          </a:xfrm>
          <a:prstGeom prst="rightArrow">
            <a:avLst/>
          </a:prstGeom>
          <a:solidFill>
            <a:schemeClr val="accent3"/>
          </a:solidFill>
          <a:ln/>
        </p:spPr>
      </p:sp>
      <p:sp>
        <p:nvSpPr>
          <p:cNvPr id="25" name="Pipeline step 5"/>
          <p:cNvSpPr/>
          <p:nvPr/>
        </p:nvSpPr>
        <p:spPr>
          <a:xfrm>
            <a:off x="8887968" y="5257800"/>
            <a:ext cx="2743200" cy="868680"/>
          </a:xfrm>
          <a:prstGeom prst="roundRect">
            <a:avLst>
              <a:gd name="adj" fmla="val 10526"/>
            </a:avLst>
          </a:prstGeom>
          <a:solidFill>
            <a:schemeClr val="bg2"/>
          </a:solidFill>
          <a:ln/>
        </p:spPr>
      </p:sp>
      <p:sp>
        <p:nvSpPr>
          <p:cNvPr id="26" name="Pipeline step 5 text"/>
          <p:cNvSpPr txBox="1"/>
          <p:nvPr/>
        </p:nvSpPr>
        <p:spPr>
          <a:xfrm>
            <a:off x="9025128" y="5257800"/>
            <a:ext cx="2468880" cy="868680"/>
          </a:xfrm>
          <a:prstGeom prst="rect">
            <a:avLst/>
          </a:prstGeom>
          <a:noFill/>
          <a:ln/>
        </p:spPr>
        <p:txBody>
          <a:bodyPr wrap="square" lIns="0" tIns="0" rIns="0" bIns="0" rtlCol="0" anchor="ctr"/>
          <a:lstStyle/>
          <a:p>
            <a:pPr algn="ctr" indent="0" marL="0">
              <a:buNone/>
            </a:pPr>
            <a:r>
              <a:rPr lang="en-US" sz="1400" b="1" dirty="0">
                <a:solidFill>
                  <a:schemeClr val="tx2"/>
                </a:solidFill>
              </a:rPr>
              <a:t>Add slope, tags, lidar terrain, vegetation, embeddings</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Tobler is too fast and too peaked</a:t>
            </a:r>
            <a:endParaRPr lang="en-US" sz="3400" dirty="0"/>
          </a:p>
        </p:txBody>
      </p:sp>
      <p:pic>
        <p:nvPicPr>
          <p:cNvPr id="3" name="Speed vs slope figure" descr="/Users/brian/Desktop/GeoAI/paper/figures/fig_curve.png">    </p:cNvPr>
          <p:cNvPicPr>
            <a:picLocks noChangeAspect="1"/>
          </p:cNvPicPr>
          <p:nvPr/>
        </p:nvPicPr>
        <p:blipFill>
          <a:blip r:embed="rId1"/>
          <a:stretch>
            <a:fillRect/>
          </a:stretch>
        </p:blipFill>
        <p:spPr>
          <a:xfrm>
            <a:off x="548640" y="1234440"/>
            <a:ext cx="5897880" cy="4972917"/>
          </a:xfrm>
          <a:prstGeom prst="rect">
            <a:avLst/>
          </a:prstGeom>
        </p:spPr>
      </p:pic>
      <p:sp>
        <p:nvSpPr>
          <p:cNvPr id="4" name="Peak speed value"/>
          <p:cNvSpPr txBox="1"/>
          <p:nvPr/>
        </p:nvSpPr>
        <p:spPr>
          <a:xfrm>
            <a:off x="6949440" y="1371600"/>
            <a:ext cx="4693615" cy="6908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4.2</a:t>
            </a:r>
            <a:pPr indent="0" marL="0">
              <a:buNone/>
            </a:pPr>
            <a:r>
              <a:rPr lang="en-US" sz="2200" b="1" dirty="0">
                <a:solidFill>
                  <a:schemeClr val="accent1"/>
                </a:solidFill>
                <a:latin typeface="+mj-lt" pitchFamily="34" charset="0"/>
                <a:ea typeface="+mj-lt" pitchFamily="34" charset="-122"/>
                <a:cs typeface="+mj-lt" pitchFamily="34" charset="-120"/>
              </a:rPr>
              <a:t> km/h</a:t>
            </a:r>
            <a:endParaRPr lang="en-US" sz="4000" dirty="0"/>
          </a:p>
        </p:txBody>
      </p:sp>
      <p:sp>
        <p:nvSpPr>
          <p:cNvPr id="5" name="Peak speed label"/>
          <p:cNvSpPr txBox="1"/>
          <p:nvPr/>
        </p:nvSpPr>
        <p:spPr>
          <a:xfrm>
            <a:off x="6949440" y="2062480"/>
            <a:ext cx="4693615" cy="777240"/>
          </a:xfrm>
          <a:prstGeom prst="rect">
            <a:avLst/>
          </a:prstGeom>
          <a:noFill/>
          <a:ln/>
        </p:spPr>
        <p:txBody>
          <a:bodyPr wrap="square" lIns="0" tIns="0" rIns="0" bIns="0" rtlCol="0" anchor="t"/>
          <a:lstStyle/>
          <a:p>
            <a:pPr indent="0" marL="0">
              <a:buNone/>
            </a:pPr>
            <a:r>
              <a:rPr lang="en-US" sz="1500" dirty="0">
                <a:solidFill>
                  <a:schemeClr val="tx1"/>
                </a:solidFill>
              </a:rPr>
              <a:t>real peak walking speed, on level to gently descending trail</a:t>
            </a:r>
            <a:endParaRPr lang="en-US" sz="1500" dirty="0"/>
          </a:p>
          <a:p>
            <a:pPr indent="0" marL="0">
              <a:buNone/>
            </a:pPr>
            <a:r>
              <a:rPr lang="en-US" sz="1400" i="1" dirty="0">
                <a:solidFill>
                  <a:schemeClr val="accent4"/>
                </a:solidFill>
              </a:rPr>
              <a:t>Tobler: 6 km/h</a:t>
            </a:r>
            <a:endParaRPr lang="en-US" sz="1500" dirty="0"/>
          </a:p>
        </p:txBody>
      </p:sp>
      <p:sp>
        <p:nvSpPr>
          <p:cNvPr id="6" name="Downhill value"/>
          <p:cNvSpPr txBox="1"/>
          <p:nvPr/>
        </p:nvSpPr>
        <p:spPr>
          <a:xfrm>
            <a:off x="6949440" y="3017520"/>
            <a:ext cx="4693615" cy="6908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8–23%</a:t>
            </a:r>
            <a:endParaRPr lang="en-US" sz="4000" dirty="0"/>
          </a:p>
        </p:txBody>
      </p:sp>
      <p:sp>
        <p:nvSpPr>
          <p:cNvPr id="7" name="Downhill label"/>
          <p:cNvSpPr txBox="1"/>
          <p:nvPr/>
        </p:nvSpPr>
        <p:spPr>
          <a:xfrm>
            <a:off x="6949440" y="3708400"/>
            <a:ext cx="4693615" cy="777240"/>
          </a:xfrm>
          <a:prstGeom prst="rect">
            <a:avLst/>
          </a:prstGeom>
          <a:noFill/>
          <a:ln/>
        </p:spPr>
        <p:txBody>
          <a:bodyPr wrap="square" lIns="0" tIns="0" rIns="0" bIns="0" rtlCol="0" anchor="t"/>
          <a:lstStyle/>
          <a:p>
            <a:pPr indent="0" marL="0">
              <a:buNone/>
            </a:pPr>
            <a:r>
              <a:rPr lang="en-US" sz="1500" dirty="0">
                <a:solidFill>
                  <a:schemeClr val="tx1"/>
                </a:solidFill>
              </a:rPr>
              <a:t>faster downhill than uphill, same hiker on the same trail</a:t>
            </a:r>
            <a:endParaRPr lang="en-US" sz="1500" dirty="0"/>
          </a:p>
          <a:p>
            <a:pPr indent="0" marL="0">
              <a:buNone/>
            </a:pPr>
            <a:r>
              <a:rPr lang="en-US" sz="1400" i="1" dirty="0">
                <a:solidFill>
                  <a:schemeClr val="accent4"/>
                </a:solidFill>
              </a:rPr>
              <a:t>Tobler: 42% at every grade</a:t>
            </a:r>
            <a:endParaRPr lang="en-US" sz="1500" dirty="0"/>
          </a:p>
        </p:txBody>
      </p:sp>
      <p:sp>
        <p:nvSpPr>
          <p:cNvPr id="8" name="Tobler regions value"/>
          <p:cNvSpPr txBox="1"/>
          <p:nvPr/>
        </p:nvSpPr>
        <p:spPr>
          <a:xfrm>
            <a:off x="6949440" y="4663440"/>
            <a:ext cx="4693615" cy="690880"/>
          </a:xfrm>
          <a:prstGeom prst="rect">
            <a:avLst/>
          </a:prstGeom>
          <a:noFill/>
          <a:ln/>
        </p:spPr>
        <p:txBody>
          <a:bodyPr wrap="square" lIns="0" tIns="0" rIns="0" bIns="0" rtlCol="0" anchor="t"/>
          <a:lstStyle/>
          <a:p>
            <a:pPr indent="0" marL="0">
              <a:buNone/>
            </a:pPr>
            <a:r>
              <a:rPr lang="en-US" sz="4000" b="1" dirty="0">
                <a:solidFill>
                  <a:schemeClr val="tx2"/>
                </a:solidFill>
                <a:latin typeface="+mj-lt" pitchFamily="34" charset="0"/>
                <a:ea typeface="+mj-lt" pitchFamily="34" charset="-122"/>
                <a:cs typeface="+mj-lt" pitchFamily="34" charset="-120"/>
              </a:rPr>
              <a:t>17 of 17</a:t>
            </a:r>
            <a:endParaRPr lang="en-US" sz="4000" dirty="0"/>
          </a:p>
        </p:txBody>
      </p:sp>
      <p:sp>
        <p:nvSpPr>
          <p:cNvPr id="9" name="Tobler regions label"/>
          <p:cNvSpPr txBox="1"/>
          <p:nvPr/>
        </p:nvSpPr>
        <p:spPr>
          <a:xfrm>
            <a:off x="6949440" y="5354320"/>
            <a:ext cx="4693615" cy="777240"/>
          </a:xfrm>
          <a:prstGeom prst="rect">
            <a:avLst/>
          </a:prstGeom>
          <a:noFill/>
          <a:ln/>
        </p:spPr>
        <p:txBody>
          <a:bodyPr wrap="square" lIns="0" tIns="0" rIns="0" bIns="0" rtlCol="0" anchor="t"/>
          <a:lstStyle/>
          <a:p>
            <a:pPr indent="0" marL="0">
              <a:buNone/>
            </a:pPr>
            <a:r>
              <a:rPr lang="en-US" sz="1500" dirty="0">
                <a:solidFill>
                  <a:schemeClr val="tx1"/>
                </a:solidFill>
              </a:rPr>
              <a:t>regions where Tobler predicts worse than a refitted slope curve</a:t>
            </a:r>
            <a:endParaRPr lang="en-US" sz="1500" dirty="0"/>
          </a:p>
          <a:p>
            <a:pPr indent="0" marL="0">
              <a:buNone/>
            </a:pPr>
            <a:r>
              <a:rPr lang="en-US" sz="1400" i="1" dirty="0">
                <a:solidFill>
                  <a:schemeClr val="accent4"/>
                </a:solidFill>
              </a:rPr>
              <a:t>−12.5% overall (CRPS skill)</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In new regions, terrain beats map tags</a:t>
            </a:r>
            <a:endParaRPr lang="en-US" sz="3400" dirty="0"/>
          </a:p>
        </p:txBody>
      </p:sp>
      <p:pic>
        <p:nvPicPr>
          <p:cNvPr id="3" name="Skill by model and by region" descr="/Users/brian/Desktop/GeoAI/paper/figures/fig_skill_regions.png">    </p:cNvPr>
          <p:cNvPicPr>
            <a:picLocks noChangeAspect="1"/>
          </p:cNvPicPr>
          <p:nvPr/>
        </p:nvPicPr>
        <p:blipFill>
          <a:blip r:embed="rId1"/>
          <a:stretch>
            <a:fillRect/>
          </a:stretch>
        </p:blipFill>
        <p:spPr>
          <a:xfrm>
            <a:off x="548640" y="1143000"/>
            <a:ext cx="11094415" cy="3563898"/>
          </a:xfrm>
          <a:prstGeom prst="rect">
            <a:avLst/>
          </a:prstGeom>
        </p:spPr>
      </p:pic>
      <p:sp>
        <p:nvSpPr>
          <p:cNvPr id="4" name="Terrain skill value"/>
          <p:cNvSpPr txBox="1"/>
          <p:nvPr/>
        </p:nvSpPr>
        <p:spPr>
          <a:xfrm>
            <a:off x="548640" y="4846320"/>
            <a:ext cx="3503066" cy="563880"/>
          </a:xfrm>
          <a:prstGeom prst="rect">
            <a:avLst/>
          </a:prstGeom>
          <a:noFill/>
          <a:ln/>
        </p:spPr>
        <p:txBody>
          <a:bodyPr wrap="square" lIns="0" tIns="0" rIns="0" bIns="0" rtlCol="0" anchor="t"/>
          <a:lstStyle/>
          <a:p>
            <a:pPr indent="0" marL="0">
              <a:buNone/>
            </a:pPr>
            <a:r>
              <a:rPr lang="en-US" sz="3000" b="1" dirty="0">
                <a:solidFill>
                  <a:schemeClr val="accent1"/>
                </a:solidFill>
                <a:latin typeface="+mj-lt" pitchFamily="34" charset="0"/>
                <a:ea typeface="+mj-lt" pitchFamily="34" charset="-122"/>
                <a:cs typeface="+mj-lt" pitchFamily="34" charset="-120"/>
              </a:rPr>
              <a:t>+2.1 to +2.8%</a:t>
            </a:r>
            <a:endParaRPr lang="en-US" sz="3000" dirty="0"/>
          </a:p>
        </p:txBody>
      </p:sp>
      <p:sp>
        <p:nvSpPr>
          <p:cNvPr id="5" name="Terrain skill label"/>
          <p:cNvSpPr txBox="1"/>
          <p:nvPr/>
        </p:nvSpPr>
        <p:spPr>
          <a:xfrm>
            <a:off x="548640" y="5410200"/>
            <a:ext cx="3503066" cy="457200"/>
          </a:xfrm>
          <a:prstGeom prst="rect">
            <a:avLst/>
          </a:prstGeom>
          <a:noFill/>
          <a:ln/>
        </p:spPr>
        <p:txBody>
          <a:bodyPr wrap="square" lIns="0" tIns="0" rIns="0" bIns="0" rtlCol="0" anchor="t"/>
          <a:lstStyle/>
          <a:p>
            <a:pPr indent="0" marL="0">
              <a:buNone/>
            </a:pPr>
            <a:r>
              <a:rPr lang="en-US" sz="1500" dirty="0">
                <a:solidFill>
                  <a:schemeClr val="tx1"/>
                </a:solidFill>
              </a:rPr>
              <a:t>terrain, in regions the model never saw</a:t>
            </a:r>
            <a:endParaRPr lang="en-US" sz="1500" dirty="0"/>
          </a:p>
        </p:txBody>
      </p:sp>
      <p:sp>
        <p:nvSpPr>
          <p:cNvPr id="6" name="Regions won value"/>
          <p:cNvSpPr txBox="1"/>
          <p:nvPr/>
        </p:nvSpPr>
        <p:spPr>
          <a:xfrm>
            <a:off x="4344314" y="4846320"/>
            <a:ext cx="3503066" cy="563880"/>
          </a:xfrm>
          <a:prstGeom prst="rect">
            <a:avLst/>
          </a:prstGeom>
          <a:noFill/>
          <a:ln/>
        </p:spPr>
        <p:txBody>
          <a:bodyPr wrap="square" lIns="0" tIns="0" rIns="0" bIns="0" rtlCol="0" anchor="t"/>
          <a:lstStyle/>
          <a:p>
            <a:pPr indent="0" marL="0">
              <a:buNone/>
            </a:pPr>
            <a:r>
              <a:rPr lang="en-US" sz="3000" b="1" dirty="0">
                <a:solidFill>
                  <a:schemeClr val="tx2"/>
                </a:solidFill>
                <a:latin typeface="+mj-lt" pitchFamily="34" charset="0"/>
                <a:ea typeface="+mj-lt" pitchFamily="34" charset="-122"/>
                <a:cs typeface="+mj-lt" pitchFamily="34" charset="-120"/>
              </a:rPr>
              <a:t>16 of 17</a:t>
            </a:r>
            <a:endParaRPr lang="en-US" sz="3000" dirty="0"/>
          </a:p>
        </p:txBody>
      </p:sp>
      <p:sp>
        <p:nvSpPr>
          <p:cNvPr id="7" name="Regions won label"/>
          <p:cNvSpPr txBox="1"/>
          <p:nvPr/>
        </p:nvSpPr>
        <p:spPr>
          <a:xfrm>
            <a:off x="4344314" y="5410200"/>
            <a:ext cx="3503066" cy="457200"/>
          </a:xfrm>
          <a:prstGeom prst="rect">
            <a:avLst/>
          </a:prstGeom>
          <a:noFill/>
          <a:ln/>
        </p:spPr>
        <p:txBody>
          <a:bodyPr wrap="square" lIns="0" tIns="0" rIns="0" bIns="0" rtlCol="0" anchor="t"/>
          <a:lstStyle/>
          <a:p>
            <a:pPr indent="0" marL="0">
              <a:buNone/>
            </a:pPr>
            <a:r>
              <a:rPr lang="en-US" sz="1500" dirty="0">
                <a:solidFill>
                  <a:schemeClr val="tx1"/>
                </a:solidFill>
              </a:rPr>
              <a:t>held-out regions where terrain beats tags</a:t>
            </a:r>
            <a:endParaRPr lang="en-US" sz="1500" dirty="0"/>
          </a:p>
        </p:txBody>
      </p:sp>
      <p:sp>
        <p:nvSpPr>
          <p:cNvPr id="8" name="Tag skill value"/>
          <p:cNvSpPr txBox="1"/>
          <p:nvPr/>
        </p:nvSpPr>
        <p:spPr>
          <a:xfrm>
            <a:off x="8139989" y="4846320"/>
            <a:ext cx="3503066" cy="563880"/>
          </a:xfrm>
          <a:prstGeom prst="rect">
            <a:avLst/>
          </a:prstGeom>
          <a:noFill/>
          <a:ln/>
        </p:spPr>
        <p:txBody>
          <a:bodyPr wrap="square" lIns="0" tIns="0" rIns="0" bIns="0" rtlCol="0" anchor="t"/>
          <a:lstStyle/>
          <a:p>
            <a:pPr indent="0" marL="0">
              <a:buNone/>
            </a:pPr>
            <a:r>
              <a:rPr lang="en-US" sz="3000" b="1" dirty="0">
                <a:solidFill>
                  <a:schemeClr val="accent2"/>
                </a:solidFill>
                <a:latin typeface="+mj-lt" pitchFamily="34" charset="0"/>
                <a:ea typeface="+mj-lt" pitchFamily="34" charset="-122"/>
                <a:cs typeface="+mj-lt" pitchFamily="34" charset="-120"/>
              </a:rPr>
              <a:t>+0.4 to +0.9%</a:t>
            </a:r>
            <a:endParaRPr lang="en-US" sz="3000" dirty="0"/>
          </a:p>
        </p:txBody>
      </p:sp>
      <p:sp>
        <p:nvSpPr>
          <p:cNvPr id="9" name="Tag skill label"/>
          <p:cNvSpPr txBox="1"/>
          <p:nvPr/>
        </p:nvSpPr>
        <p:spPr>
          <a:xfrm>
            <a:off x="8139989" y="5410200"/>
            <a:ext cx="3503066" cy="457200"/>
          </a:xfrm>
          <a:prstGeom prst="rect">
            <a:avLst/>
          </a:prstGeom>
          <a:noFill/>
          <a:ln/>
        </p:spPr>
        <p:txBody>
          <a:bodyPr wrap="square" lIns="0" tIns="0" rIns="0" bIns="0" rtlCol="0" anchor="t"/>
          <a:lstStyle/>
          <a:p>
            <a:pPr indent="0" marL="0">
              <a:buNone/>
            </a:pPr>
            <a:r>
              <a:rPr lang="en-US" sz="1500" dirty="0">
                <a:solidFill>
                  <a:schemeClr val="tx1"/>
                </a:solidFill>
              </a:rPr>
              <a:t>OSM tags, in regions the model never saw</a:t>
            </a:r>
            <a:endParaRPr lang="en-US" sz="1500" dirty="0"/>
          </a:p>
        </p:txBody>
      </p:sp>
      <p:sp>
        <p:nvSpPr>
          <p:cNvPr id="10" name="Skill note"/>
          <p:cNvSpPr txBox="1"/>
          <p:nvPr/>
        </p:nvSpPr>
        <p:spPr>
          <a:xfrm>
            <a:off x="548640" y="5870448"/>
            <a:ext cx="11094415" cy="457200"/>
          </a:xfrm>
          <a:prstGeom prst="rect">
            <a:avLst/>
          </a:prstGeom>
          <a:noFill/>
          <a:ln/>
        </p:spPr>
        <p:txBody>
          <a:bodyPr wrap="square" lIns="0" tIns="0" rIns="0" bIns="0" rtlCol="0" anchor="t"/>
          <a:lstStyle/>
          <a:p>
            <a:pPr indent="0" marL="0">
              <a:buNone/>
            </a:pPr>
            <a:r>
              <a:rPr lang="en-US" sz="1200" dirty="0">
                <a:solidFill>
                  <a:schemeClr val="accent4"/>
                </a:solidFill>
              </a:rPr>
              <a:t>Skill: how much better a model's predicted speed distribution scores (CRPS) than a slope-only curve refitted to our data. It holds for newer hikes, every GPS rate, whole zones held out and hikers the model never saw; vegetation and satellite embeddings don't transfer.</a:t>
            </a:r>
            <a:endParaRPr lang="en-US" sz="12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Contours, Mt Washington" descr="/Users/brian/Desktop/GeoAI/meeting_plots/oct23_lab/assets/contours.png">    </p:cNvPr>
          <p:cNvPicPr>
            <a:picLocks noChangeAspect="1"/>
          </p:cNvPicPr>
          <p:nvPr/>
        </p:nvPicPr>
        <p:blipFill>
          <a:blip r:embed="rId1">
            <a:alphaModFix amt="38000"/>
          </a:blip>
          <a:stretch>
            <a:fillRect/>
          </a:stretch>
        </p:blipFill>
        <p:spPr>
          <a:xfrm>
            <a:off x="0" y="0"/>
            <a:ext cx="12191695" cy="6858000"/>
          </a:xfrm>
          <a:prstGeom prst="rect">
            <a:avLst/>
          </a:prstGeom>
        </p:spPr>
      </p:pic>
      <p:sp>
        <p:nvSpPr>
          <p:cNvPr id="3"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bg1"/>
                </a:solidFill>
                <a:latin typeface="+mj-lt" pitchFamily="34" charset="0"/>
                <a:ea typeface="+mj-lt" pitchFamily="34" charset="-122"/>
                <a:cs typeface="+mj-lt" pitchFamily="34" charset="-120"/>
              </a:rPr>
              <a:t>Next: Tobler with learned constants</a:t>
            </a:r>
            <a:endParaRPr lang="en-US" sz="3400" dirty="0"/>
          </a:p>
        </p:txBody>
      </p:sp>
      <p:sp>
        <p:nvSpPr>
          <p:cNvPr id="4" name="Done chip 1"/>
          <p:cNvSpPr/>
          <p:nvPr/>
        </p:nvSpPr>
        <p:spPr>
          <a:xfrm>
            <a:off x="548640" y="1325880"/>
            <a:ext cx="1600200" cy="457200"/>
          </a:xfrm>
          <a:prstGeom prst="roundRect">
            <a:avLst>
              <a:gd name="adj" fmla="val 20000"/>
            </a:avLst>
          </a:prstGeom>
          <a:solidFill>
            <a:schemeClr val="accent3"/>
          </a:solidFill>
          <a:ln/>
        </p:spPr>
      </p:sp>
      <p:sp>
        <p:nvSpPr>
          <p:cNvPr id="5" name="Done chip 1 text"/>
          <p:cNvSpPr txBox="1"/>
          <p:nvPr/>
        </p:nvSpPr>
        <p:spPr>
          <a:xfrm>
            <a:off x="548640" y="1325880"/>
            <a:ext cx="1600200" cy="457200"/>
          </a:xfrm>
          <a:prstGeom prst="rect">
            <a:avLst/>
          </a:prstGeom>
          <a:noFill/>
          <a:ln/>
        </p:spPr>
        <p:txBody>
          <a:bodyPr wrap="square" lIns="0" tIns="0" rIns="0" bIns="0" rtlCol="0" anchor="ctr"/>
          <a:lstStyle/>
          <a:p>
            <a:pPr algn="ctr" indent="0" marL="0">
              <a:buNone/>
            </a:pPr>
            <a:r>
              <a:rPr lang="en-US" sz="1400" b="1" dirty="0">
                <a:solidFill>
                  <a:schemeClr val="bg1"/>
                </a:solidFill>
              </a:rPr>
              <a:t>✓  T1 dataset</a:t>
            </a:r>
            <a:endParaRPr lang="en-US" sz="1400" dirty="0"/>
          </a:p>
        </p:txBody>
      </p:sp>
      <p:sp>
        <p:nvSpPr>
          <p:cNvPr id="6" name="Done chip 2"/>
          <p:cNvSpPr/>
          <p:nvPr/>
        </p:nvSpPr>
        <p:spPr>
          <a:xfrm>
            <a:off x="2368296" y="1325880"/>
            <a:ext cx="1874520" cy="457200"/>
          </a:xfrm>
          <a:prstGeom prst="roundRect">
            <a:avLst>
              <a:gd name="adj" fmla="val 20000"/>
            </a:avLst>
          </a:prstGeom>
          <a:solidFill>
            <a:schemeClr val="accent3"/>
          </a:solidFill>
          <a:ln/>
        </p:spPr>
      </p:sp>
      <p:sp>
        <p:nvSpPr>
          <p:cNvPr id="7" name="Done chip 2 text"/>
          <p:cNvSpPr txBox="1"/>
          <p:nvPr/>
        </p:nvSpPr>
        <p:spPr>
          <a:xfrm>
            <a:off x="2368296" y="1325880"/>
            <a:ext cx="1874520" cy="457200"/>
          </a:xfrm>
          <a:prstGeom prst="rect">
            <a:avLst/>
          </a:prstGeom>
          <a:noFill/>
          <a:ln/>
        </p:spPr>
        <p:txBody>
          <a:bodyPr wrap="square" lIns="0" tIns="0" rIns="0" bIns="0" rtlCol="0" anchor="ctr"/>
          <a:lstStyle/>
          <a:p>
            <a:pPr algn="ctr" indent="0" marL="0">
              <a:buNone/>
            </a:pPr>
            <a:r>
              <a:rPr lang="en-US" sz="1400" b="1" dirty="0">
                <a:solidFill>
                  <a:schemeClr val="bg1"/>
                </a:solidFill>
              </a:rPr>
              <a:t>✓  T2 covariates</a:t>
            </a:r>
            <a:endParaRPr lang="en-US" sz="1400" dirty="0"/>
          </a:p>
        </p:txBody>
      </p:sp>
      <p:sp>
        <p:nvSpPr>
          <p:cNvPr id="8" name="Done chip 3"/>
          <p:cNvSpPr/>
          <p:nvPr/>
        </p:nvSpPr>
        <p:spPr>
          <a:xfrm>
            <a:off x="4462272" y="1325880"/>
            <a:ext cx="2880360" cy="457200"/>
          </a:xfrm>
          <a:prstGeom prst="roundRect">
            <a:avLst>
              <a:gd name="adj" fmla="val 20000"/>
            </a:avLst>
          </a:prstGeom>
          <a:solidFill>
            <a:schemeClr val="accent3"/>
          </a:solidFill>
          <a:ln/>
        </p:spPr>
      </p:sp>
      <p:sp>
        <p:nvSpPr>
          <p:cNvPr id="9" name="Done chip 3 text"/>
          <p:cNvSpPr txBox="1"/>
          <p:nvPr/>
        </p:nvSpPr>
        <p:spPr>
          <a:xfrm>
            <a:off x="4462272" y="1325880"/>
            <a:ext cx="2880360" cy="457200"/>
          </a:xfrm>
          <a:prstGeom prst="rect">
            <a:avLst/>
          </a:prstGeom>
          <a:noFill/>
          <a:ln/>
        </p:spPr>
        <p:txBody>
          <a:bodyPr wrap="square" lIns="0" tIns="0" rIns="0" bIns="0" rtlCol="0" anchor="ctr"/>
          <a:lstStyle/>
          <a:p>
            <a:pPr algn="ctr" indent="0" marL="0">
              <a:buNone/>
            </a:pPr>
            <a:r>
              <a:rPr lang="en-US" sz="1400" b="1" dirty="0">
                <a:solidFill>
                  <a:schemeClr val="bg1"/>
                </a:solidFill>
              </a:rPr>
              <a:t>✓  T3 four-model comparison</a:t>
            </a:r>
            <a:endParaRPr lang="en-US" sz="1400" dirty="0"/>
          </a:p>
        </p:txBody>
      </p:sp>
      <p:sp>
        <p:nvSpPr>
          <p:cNvPr id="10" name="Done chip 4"/>
          <p:cNvSpPr/>
          <p:nvPr/>
        </p:nvSpPr>
        <p:spPr>
          <a:xfrm>
            <a:off x="7562088" y="1325880"/>
            <a:ext cx="2057400" cy="457200"/>
          </a:xfrm>
          <a:prstGeom prst="roundRect">
            <a:avLst>
              <a:gd name="adj" fmla="val 20000"/>
            </a:avLst>
          </a:prstGeom>
          <a:solidFill>
            <a:schemeClr val="accent3"/>
          </a:solidFill>
          <a:ln/>
        </p:spPr>
      </p:sp>
      <p:sp>
        <p:nvSpPr>
          <p:cNvPr id="11" name="Done chip 4 text"/>
          <p:cNvSpPr txBox="1"/>
          <p:nvPr/>
        </p:nvSpPr>
        <p:spPr>
          <a:xfrm>
            <a:off x="7562088" y="1325880"/>
            <a:ext cx="2057400" cy="457200"/>
          </a:xfrm>
          <a:prstGeom prst="rect">
            <a:avLst/>
          </a:prstGeom>
          <a:noFill/>
          <a:ln/>
        </p:spPr>
        <p:txBody>
          <a:bodyPr wrap="square" lIns="0" tIns="0" rIns="0" bIns="0" rtlCol="0" anchor="ctr"/>
          <a:lstStyle/>
          <a:p>
            <a:pPr algn="ctr" indent="0" marL="0">
              <a:buNone/>
            </a:pPr>
            <a:r>
              <a:rPr lang="en-US" sz="1400" b="1" dirty="0">
                <a:solidFill>
                  <a:schemeClr val="bg1"/>
                </a:solidFill>
              </a:rPr>
              <a:t>✓  T4 slope curves</a:t>
            </a:r>
            <a:endParaRPr lang="en-US" sz="1400" dirty="0"/>
          </a:p>
        </p:txBody>
      </p:sp>
      <p:sp>
        <p:nvSpPr>
          <p:cNvPr id="12" name="Done chip 5"/>
          <p:cNvSpPr/>
          <p:nvPr/>
        </p:nvSpPr>
        <p:spPr>
          <a:xfrm>
            <a:off x="9838944" y="1325880"/>
            <a:ext cx="1783080" cy="457200"/>
          </a:xfrm>
          <a:prstGeom prst="roundRect">
            <a:avLst>
              <a:gd name="adj" fmla="val 20000"/>
            </a:avLst>
          </a:prstGeom>
          <a:solidFill>
            <a:schemeClr val="accent3"/>
          </a:solidFill>
          <a:ln/>
        </p:spPr>
      </p:sp>
      <p:sp>
        <p:nvSpPr>
          <p:cNvPr id="13" name="Done chip 5 text"/>
          <p:cNvSpPr txBox="1"/>
          <p:nvPr/>
        </p:nvSpPr>
        <p:spPr>
          <a:xfrm>
            <a:off x="9838944" y="1325880"/>
            <a:ext cx="1783080" cy="457200"/>
          </a:xfrm>
          <a:prstGeom prst="rect">
            <a:avLst/>
          </a:prstGeom>
          <a:noFill/>
          <a:ln/>
        </p:spPr>
        <p:txBody>
          <a:bodyPr wrap="square" lIns="0" tIns="0" rIns="0" bIns="0" rtlCol="0" anchor="ctr"/>
          <a:lstStyle/>
          <a:p>
            <a:pPr algn="ctr" indent="0" marL="0">
              <a:buNone/>
            </a:pPr>
            <a:r>
              <a:rPr lang="en-US" sz="1400" b="1" dirty="0">
                <a:solidFill>
                  <a:schemeClr val="bg1"/>
                </a:solidFill>
              </a:rPr>
              <a:t>✓  Paper draft 0</a:t>
            </a:r>
            <a:endParaRPr lang="en-US" sz="1400" dirty="0"/>
          </a:p>
        </p:txBody>
      </p:sp>
      <p:sp>
        <p:nvSpPr>
          <p:cNvPr id="14" name="Next 1 when"/>
          <p:cNvSpPr txBox="1"/>
          <p:nvPr/>
        </p:nvSpPr>
        <p:spPr>
          <a:xfrm>
            <a:off x="548640" y="2276856"/>
            <a:ext cx="2286000" cy="365760"/>
          </a:xfrm>
          <a:prstGeom prst="rect">
            <a:avLst/>
          </a:prstGeom>
          <a:noFill/>
          <a:ln/>
        </p:spPr>
        <p:txBody>
          <a:bodyPr wrap="square" lIns="0" tIns="0" rIns="0" bIns="0" rtlCol="0" anchor="t"/>
          <a:lstStyle/>
          <a:p>
            <a:pPr indent="0" marL="0">
              <a:buNone/>
            </a:pPr>
            <a:r>
              <a:rPr lang="en-US" sz="1600" b="1" dirty="0">
                <a:solidFill>
                  <a:schemeClr val="accent5"/>
                </a:solidFill>
              </a:rPr>
              <a:t>Weeks 10–11</a:t>
            </a:r>
            <a:endParaRPr lang="en-US" sz="1600" dirty="0"/>
          </a:p>
        </p:txBody>
      </p:sp>
      <p:sp>
        <p:nvSpPr>
          <p:cNvPr id="15" name="Next 1 what"/>
          <p:cNvSpPr txBox="1"/>
          <p:nvPr/>
        </p:nvSpPr>
        <p:spPr>
          <a:xfrm>
            <a:off x="2971800" y="2240280"/>
            <a:ext cx="8671255" cy="777240"/>
          </a:xfrm>
          <a:prstGeom prst="rect">
            <a:avLst/>
          </a:prstGeom>
          <a:noFill/>
          <a:ln/>
        </p:spPr>
        <p:txBody>
          <a:bodyPr wrap="square" lIns="0" tIns="0" rIns="0" bIns="0" rtlCol="0" anchor="t"/>
          <a:lstStyle/>
          <a:p>
            <a:pPr indent="0" marL="0">
              <a:buNone/>
            </a:pPr>
            <a:r>
              <a:rPr lang="en-US" sz="1800" dirty="0">
                <a:solidFill>
                  <a:schemeClr val="bg1"/>
                </a:solidFill>
              </a:rPr>
              <a:t>Tobler's form with its constants learned from terrain, plus a variance head (PyTorch). Gate 2, 6 Nov: does it beat boosted trees?</a:t>
            </a:r>
            <a:endParaRPr lang="en-US" sz="1800" dirty="0"/>
          </a:p>
        </p:txBody>
      </p:sp>
      <p:sp>
        <p:nvSpPr>
          <p:cNvPr id="16" name="Next 2 when"/>
          <p:cNvSpPr txBox="1"/>
          <p:nvPr/>
        </p:nvSpPr>
        <p:spPr>
          <a:xfrm>
            <a:off x="548640" y="3236976"/>
            <a:ext cx="2286000" cy="365760"/>
          </a:xfrm>
          <a:prstGeom prst="rect">
            <a:avLst/>
          </a:prstGeom>
          <a:noFill/>
          <a:ln/>
        </p:spPr>
        <p:txBody>
          <a:bodyPr wrap="square" lIns="0" tIns="0" rIns="0" bIns="0" rtlCol="0" anchor="t"/>
          <a:lstStyle/>
          <a:p>
            <a:pPr indent="0" marL="0">
              <a:buNone/>
            </a:pPr>
            <a:r>
              <a:rPr lang="en-US" sz="1600" b="1" dirty="0">
                <a:solidFill>
                  <a:schemeClr val="accent5"/>
                </a:solidFill>
              </a:rPr>
              <a:t>Week 12</a:t>
            </a:r>
            <a:endParaRPr lang="en-US" sz="1600" dirty="0"/>
          </a:p>
        </p:txBody>
      </p:sp>
      <p:sp>
        <p:nvSpPr>
          <p:cNvPr id="17" name="Next 2 what"/>
          <p:cNvSpPr txBox="1"/>
          <p:nvPr/>
        </p:nvSpPr>
        <p:spPr>
          <a:xfrm>
            <a:off x="2971800" y="3200400"/>
            <a:ext cx="8671255" cy="777240"/>
          </a:xfrm>
          <a:prstGeom prst="rect">
            <a:avLst/>
          </a:prstGeom>
          <a:noFill/>
          <a:ln/>
        </p:spPr>
        <p:txBody>
          <a:bodyPr wrap="square" lIns="0" tIns="0" rIns="0" bIns="0" rtlCol="0" anchor="t"/>
          <a:lstStyle/>
          <a:p>
            <a:pPr indent="0" marL="0">
              <a:buNone/>
            </a:pPr>
            <a:r>
              <a:rPr lang="en-US" sz="1800" dirty="0">
                <a:solidFill>
                  <a:schemeClr val="bg1"/>
                </a:solidFill>
              </a:rPr>
              <a:t>NAIP aerial imagery: a frozen pretrained encoder with a small head.</a:t>
            </a:r>
            <a:endParaRPr lang="en-US" sz="1800" dirty="0"/>
          </a:p>
        </p:txBody>
      </p:sp>
      <p:sp>
        <p:nvSpPr>
          <p:cNvPr id="18" name="Next 3 when"/>
          <p:cNvSpPr txBox="1"/>
          <p:nvPr/>
        </p:nvSpPr>
        <p:spPr>
          <a:xfrm>
            <a:off x="548640" y="3968496"/>
            <a:ext cx="2286000" cy="365760"/>
          </a:xfrm>
          <a:prstGeom prst="rect">
            <a:avLst/>
          </a:prstGeom>
          <a:noFill/>
          <a:ln/>
        </p:spPr>
        <p:txBody>
          <a:bodyPr wrap="square" lIns="0" tIns="0" rIns="0" bIns="0" rtlCol="0" anchor="t"/>
          <a:lstStyle/>
          <a:p>
            <a:pPr indent="0" marL="0">
              <a:buNone/>
            </a:pPr>
            <a:r>
              <a:rPr lang="en-US" sz="1600" b="1" dirty="0">
                <a:solidFill>
                  <a:schemeClr val="accent5"/>
                </a:solidFill>
              </a:rPr>
              <a:t>Week 13 to 11 Jan</a:t>
            </a:r>
            <a:endParaRPr lang="en-US" sz="1600" dirty="0"/>
          </a:p>
        </p:txBody>
      </p:sp>
      <p:sp>
        <p:nvSpPr>
          <p:cNvPr id="19" name="Next 3 what"/>
          <p:cNvSpPr txBox="1"/>
          <p:nvPr/>
        </p:nvSpPr>
        <p:spPr>
          <a:xfrm>
            <a:off x="2971800" y="3931920"/>
            <a:ext cx="8671255" cy="777240"/>
          </a:xfrm>
          <a:prstGeom prst="rect">
            <a:avLst/>
          </a:prstGeom>
          <a:noFill/>
          <a:ln/>
        </p:spPr>
        <p:txBody>
          <a:bodyPr wrap="square" lIns="0" tIns="0" rIns="0" bIns="0" rtlCol="0" anchor="t"/>
          <a:lstStyle/>
          <a:p>
            <a:pPr indent="0" marL="0">
              <a:buNone/>
            </a:pPr>
            <a:r>
              <a:rPr lang="en-US" sz="1800" dirty="0">
                <a:solidFill>
                  <a:schemeClr val="bg1"/>
                </a:solidFill>
              </a:rPr>
              <a:t>Full paper draft, then IGARSS 2027 and its Student Paper Competition.</a:t>
            </a:r>
            <a:endParaRPr lang="en-US" sz="1800" dirty="0"/>
          </a:p>
        </p:txBody>
      </p:sp>
      <p:sp>
        <p:nvSpPr>
          <p:cNvPr id="20" name="Question card"/>
          <p:cNvSpPr/>
          <p:nvPr/>
        </p:nvSpPr>
        <p:spPr>
          <a:xfrm>
            <a:off x="548640" y="4892040"/>
            <a:ext cx="11094415" cy="1005840"/>
          </a:xfrm>
          <a:prstGeom prst="roundRect">
            <a:avLst>
              <a:gd name="adj" fmla="val 9091"/>
            </a:avLst>
          </a:prstGeom>
          <a:solidFill>
            <a:schemeClr val="accent3">
              <a:alpha val="45000"/>
            </a:schemeClr>
          </a:solidFill>
          <a:ln/>
        </p:spPr>
      </p:sp>
      <p:sp>
        <p:nvSpPr>
          <p:cNvPr id="21" name="Question"/>
          <p:cNvSpPr txBox="1"/>
          <p:nvPr/>
        </p:nvSpPr>
        <p:spPr>
          <a:xfrm>
            <a:off x="822960" y="4892040"/>
            <a:ext cx="10545775" cy="1005840"/>
          </a:xfrm>
          <a:prstGeom prst="rect">
            <a:avLst/>
          </a:prstGeom>
          <a:noFill/>
          <a:ln/>
        </p:spPr>
        <p:txBody>
          <a:bodyPr wrap="square" lIns="0" tIns="0" rIns="0" bIns="0" rtlCol="0" anchor="ctr"/>
          <a:lstStyle/>
          <a:p>
            <a:pPr indent="0" marL="0">
              <a:buNone/>
            </a:pPr>
            <a:r>
              <a:rPr lang="en-US" sz="1800" b="1" dirty="0">
                <a:solidFill>
                  <a:schemeClr val="bg1"/>
                </a:solidFill>
              </a:rPr>
              <a:t>Question for the lab: </a:t>
            </a:r>
            <a:pPr indent="0" marL="0">
              <a:buNone/>
            </a:pPr>
            <a:r>
              <a:rPr lang="en-US" sz="1800" dirty="0">
                <a:solidFill>
                  <a:schemeClr val="bg1"/>
                </a:solidFill>
              </a:rPr>
              <a:t>which pretrained aerial-imagery encoder would you use for 1 m NAIP chips along trails?</a:t>
            </a:r>
            <a:endParaRPr lang="en-US" sz="18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Trail Lidar">
  <a:themeElements>
    <a:clrScheme name="Trail Lidar">
      <a:dk1>
        <a:srgbClr val="1C2321"/>
      </a:dk1>
      <a:lt1>
        <a:srgbClr val="FFFFFF"/>
      </a:lt1>
      <a:dk2>
        <a:srgbClr val="1E3A2F"/>
      </a:dk2>
      <a:lt2>
        <a:srgbClr val="EEF2EF"/>
      </a:lt2>
      <a:accent1>
        <a:srgbClr val="2A78D6"/>
      </a:accent1>
      <a:accent2>
        <a:srgbClr val="EB6834"/>
      </a:accent2>
      <a:accent3>
        <a:srgbClr val="5E8C75"/>
      </a:accent3>
      <a:accent4>
        <a:srgbClr val="6E7D76"/>
      </a:accent4>
      <a:accent5>
        <a:srgbClr val="C9D8CF"/>
      </a:accent5>
      <a:accent6>
        <a:srgbClr val="E2A53B"/>
      </a:accent6>
      <a:hlink>
        <a:srgbClr val="2A78D6"/>
      </a:hlink>
      <a:folHlink>
        <a:srgbClr val="5E8C75"/>
      </a:folHlink>
    </a:clrScheme>
    <a:fontScheme name="Trail Lida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Washington University in St. Louis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Does Remote Sensing Beat the Trail Map?</dc:title>
  <dc:subject>PptxGenJS Presentation</dc:subject>
  <dc:creator>Brian Zhou</dc:creator>
  <cp:lastModifiedBy>Brian Zhou</cp:lastModifiedBy>
  <cp:revision>1</cp:revision>
  <dcterms:created xsi:type="dcterms:W3CDTF">2026-10-23T18:21:28Z</dcterms:created>
  <dcterms:modified xsi:type="dcterms:W3CDTF">2026-10-23T18:21:28Z</dcterms:modified>
</cp:coreProperties>
</file>